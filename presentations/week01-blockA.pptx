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[syllabus](../../../docs/new_syllabus.md) · [AI use policy](../../../docs/ai-use-policy.md) · [evidence standard](../../../docs/evidence-standard.md)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MDN — [How does the Internet work?](https://developer.mozilla.org/en-US/docs/Learn_web_development/Howto/Web_mechanics/How_does_the_Internet_work)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../../../docs/new_syllabus.md" TargetMode="External"/><Relationship Id="rId2" Type="http://schemas.openxmlformats.org/officeDocument/2006/relationships/hyperlink" Target="../../../docs/ai-use-policy.md" TargetMode="External"/><Relationship Id="rId3" Type="http://schemas.openxmlformats.org/officeDocument/2006/relationships/hyperlink" Target="../../../docs/evidence-standard.md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mozilla.org/en-US/docs/Learn_web_development/Howto/Web_mechanics/How_does_the_Internet_wor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67640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8350"/>
            <a:ext cx="10287000" cy="18097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57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network to web page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685800" y="3943350"/>
            <a:ext cx="8953500" cy="857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Joining a network, visiting https://www.depaul.edu, and seeing where this course will take us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685800" y="4991100"/>
            <a:ext cx="205740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91100"/>
            <a:ext cx="20574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 · Block 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57500" y="4991100"/>
            <a:ext cx="14287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7500" y="4991100"/>
            <a:ext cx="14287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00550" y="4991100"/>
            <a:ext cx="22669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0550" y="4991100"/>
            <a:ext cx="22669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2026-09-05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laptops, one destination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83258"/>
            <a:ext cx="10820400" cy="1504340"/>
          </a:xfrm>
          <a:prstGeom prst="roundRect">
            <a:avLst>
              <a:gd name="adj" fmla="val 303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258"/>
            <a:ext cx="76200" cy="150434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78508"/>
            <a:ext cx="103632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096643"/>
            <a:ext cx="10363200" cy="7013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illustrative classroom scenario: one simple goal, many cooperating systems.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330189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Maya's Mac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85800" y="3736238"/>
            <a:ext cx="5219700" cy="1780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Joins the classroom Wi-Fi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https://www.depaul.edu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 the home page and follows a link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86500" y="330189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Luis's Windows laptop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286500" y="3736238"/>
            <a:ext cx="5219700" cy="1335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Joins the same classroom Wi-Fi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Enters the same web address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Wants the same usable page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Weekly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5517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the course rules live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685800" y="1470262"/>
            <a:ext cx="10820400" cy="27124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syllabus is the rulebook.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Schedule, grading, deadlines, and policies live there, and we walk through it separately today</a:t>
            </a:r>
            <a:endParaRPr lang="en-US" sz="211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slides never replace it.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If a slide and the syllabus ever disagree, the syllabus wins</a:t>
            </a:r>
            <a:endParaRPr lang="en-US" sz="211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companion documents: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AI-use policy, and the evidence standard that defines what counts as proof in this course</a:t>
            </a:r>
            <a:endParaRPr lang="en-US" sz="211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Unresolved questions go to the discussion board,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 an answer is written down once for everybody</a:t>
            </a:r>
            <a:endParaRPr lang="en-US" sz="2114" dirty="0"/>
          </a:p>
        </p:txBody>
      </p:sp>
      <p:sp>
        <p:nvSpPr>
          <p:cNvPr id="8" name="Shape 6"/>
          <p:cNvSpPr/>
          <p:nvPr/>
        </p:nvSpPr>
        <p:spPr>
          <a:xfrm>
            <a:off x="685800" y="4300213"/>
            <a:ext cx="10820400" cy="1280541"/>
          </a:xfrm>
          <a:prstGeom prst="roundRect">
            <a:avLst>
              <a:gd name="adj" fmla="val 3570"/>
            </a:avLst>
          </a:prstGeom>
          <a:solidFill>
            <a:srgbClr val="10321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300213"/>
            <a:ext cx="76200" cy="1280541"/>
          </a:xfrm>
          <a:prstGeom prst="rect">
            <a:avLst/>
          </a:prstGeom>
          <a:solidFill>
            <a:srgbClr val="86EF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395463"/>
            <a:ext cx="10363200" cy="234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86EFA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✦  TIP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708864"/>
            <a:ext cx="10363200" cy="6864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8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questions: now</a:t>
            </a:r>
            <a:pPr algn="l" indent="0" marL="0">
              <a:lnSpc>
                <a:spcPct val="136000"/>
              </a:lnSpc>
              <a:buNone/>
            </a:pPr>
            <a:r>
              <a:rPr lang="en-US" sz="198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before we start the journey. After this slide we are on the technical material.</a:t>
            </a:r>
            <a:endParaRPr lang="en-US" sz="1987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syllabus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use policy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evidence standard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map we will keep coming back to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02308"/>
            <a:ext cx="10820400" cy="37459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fresh visit, grouped into five stages. Later slides unpack the jobs inside each stage.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words about where your request goes</a:t>
            </a:r>
            <a:endParaRPr lang="en-US" sz="4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Word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means, in one sentence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set of connected devices that can send messages to each other.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Internet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 enormous collection of networks that agreed to pass each other's messages.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IP address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numeric address a device uses on a network, so replies can find their way back.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Gateway (router)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device on your network that forwards traffic to destinations outside it.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3731133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731133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826383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169283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words name the route a request takes: your computer starts on one network, and its gateway sends it toward another.</a:t>
            </a:r>
            <a:endParaRPr lang="en-US" sz="22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6254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14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words about what your request asks for</a:t>
            </a:r>
            <a:endParaRPr lang="en-US" sz="4148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89822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7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Word</a:t>
                      </a:r>
                      <a:endParaRPr lang="en-US" sz="177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7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means, in one sentence</a:t>
                      </a:r>
                      <a:endParaRPr lang="en-US" sz="177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Domain name</a:t>
                      </a:r>
                      <a:endParaRPr lang="en-US" sz="19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human-friendly name of a site, such as www.depaul.edu.</a:t>
                      </a:r>
                      <a:endParaRPr lang="en-US" sz="19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and server</a:t>
                      </a:r>
                      <a:endParaRPr lang="en-US" sz="19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client asks for something (your browser); the server answers (the website's computer).</a:t>
                      </a:r>
                      <a:endParaRPr lang="en-US" sz="19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 / HTTPS</a:t>
                      </a:r>
                      <a:endParaRPr lang="en-US" sz="19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rules browsers and servers use to ask for and return pages. HTTPS is the private version.</a:t>
                      </a:r>
                      <a:endParaRPr lang="en-US" sz="19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</a:t>
                      </a:r>
                      <a:endParaRPr lang="en-US" sz="19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Any single item a page is made of: the page text, an image, a font, a stylesheet.</a:t>
                      </a:r>
                      <a:endParaRPr lang="en-US" sz="19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4241377"/>
            <a:ext cx="10820400" cy="1589818"/>
          </a:xfrm>
          <a:prstGeom prst="roundRect">
            <a:avLst>
              <a:gd name="adj" fmla="val 287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4241377"/>
            <a:ext cx="76200" cy="1589818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336627"/>
            <a:ext cx="10363200" cy="263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676447"/>
            <a:ext cx="10363200" cy="76962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these words describe </a:t>
            </a:r>
            <a:pPr algn="l" indent="0" marL="0">
              <a:lnSpc>
                <a:spcPct val="136000"/>
              </a:lnSpc>
              <a:buNone/>
            </a:pPr>
            <a:r>
              <a:rPr lang="en-US" sz="2228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</a:t>
            </a:r>
            <a:pPr algn="l" indent="0" marL="0">
              <a:lnSpc>
                <a:spcPct val="136000"/>
              </a:lnSpc>
              <a:buNone/>
            </a:pPr>
            <a:r>
              <a:rPr lang="en-US" sz="22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anything works yet. They are labels for the parts, so the story below has names to use.</a:t>
            </a:r>
            <a:endParaRPr lang="en-US" sz="222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 Join a local network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83258"/>
            <a:ext cx="10820400" cy="1504340"/>
          </a:xfrm>
          <a:prstGeom prst="roundRect">
            <a:avLst>
              <a:gd name="adj" fmla="val 303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258"/>
            <a:ext cx="76200" cy="150434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78508"/>
            <a:ext cx="103632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096643"/>
            <a:ext cx="10363200" cy="7013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"Connected to Wi-Fi" means a local connection exists. It does not prove the website works.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3301898"/>
            <a:ext cx="5219700" cy="2627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47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the computer</a:t>
            </a:r>
            <a:endParaRPr lang="en-US" sz="2047" dirty="0"/>
          </a:p>
        </p:txBody>
      </p:sp>
      <p:sp>
        <p:nvSpPr>
          <p:cNvPr id="12" name="Text 10"/>
          <p:cNvSpPr/>
          <p:nvPr/>
        </p:nvSpPr>
        <p:spPr>
          <a:xfrm>
            <a:off x="685800" y="3668599"/>
            <a:ext cx="5219700" cy="21917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Wi-Fi, or connect a network cable</a:t>
            </a:r>
            <a:endParaRPr lang="en-US" sz="2183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network adapter establishes a local connection</a:t>
            </a:r>
            <a:endParaRPr lang="en-US" sz="2183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Supply a password or sign-in if required</a:t>
            </a:r>
            <a:endParaRPr lang="en-US" sz="2183" dirty="0"/>
          </a:p>
        </p:txBody>
      </p:sp>
      <p:sp>
        <p:nvSpPr>
          <p:cNvPr id="13" name="Text 11"/>
          <p:cNvSpPr/>
          <p:nvPr/>
        </p:nvSpPr>
        <p:spPr>
          <a:xfrm>
            <a:off x="6286500" y="3301898"/>
            <a:ext cx="5219700" cy="2627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47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the local network</a:t>
            </a:r>
            <a:endParaRPr lang="en-US" sz="2047" dirty="0"/>
          </a:p>
        </p:txBody>
      </p:sp>
      <p:sp>
        <p:nvSpPr>
          <p:cNvPr id="14" name="Text 12"/>
          <p:cNvSpPr/>
          <p:nvPr/>
        </p:nvSpPr>
        <p:spPr>
          <a:xfrm>
            <a:off x="6286500" y="3668599"/>
            <a:ext cx="5219700" cy="21917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access point or switch connects the device</a:t>
            </a:r>
            <a:endParaRPr lang="en-US" sz="2183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policy decides what access is permitted</a:t>
            </a:r>
            <a:endParaRPr lang="en-US" sz="2183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networks require an additional sign-in page</a:t>
            </a:r>
            <a:endParaRPr lang="en-US" sz="218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3910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0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 The computer gets its bearings</a:t>
            </a:r>
            <a:endParaRPr lang="en-US" sz="4009" dirty="0"/>
          </a:p>
        </p:txBody>
      </p:sp>
      <p:sp>
        <p:nvSpPr>
          <p:cNvPr id="7" name="Text 5"/>
          <p:cNvSpPr/>
          <p:nvPr/>
        </p:nvSpPr>
        <p:spPr>
          <a:xfrm>
            <a:off x="685800" y="1562618"/>
            <a:ext cx="10820400" cy="37407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91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local connection still needs usable network settings.</a:t>
            </a:r>
            <a:endParaRPr lang="en-US" sz="2291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63989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Information</a:t>
                      </a:r>
                      <a:endParaRPr lang="en-US" sz="171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question it answers</a:t>
                      </a:r>
                      <a:endParaRPr lang="en-US" sz="171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6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This device's address</a:t>
                      </a:r>
                      <a:endParaRPr lang="en-US" sz="186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6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should replies go?</a:t>
                      </a:r>
                      <a:endParaRPr lang="en-US" sz="186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6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destinations</a:t>
                      </a:r>
                      <a:endParaRPr lang="en-US" sz="186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6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Which neighbors can I reach directly?</a:t>
                      </a:r>
                      <a:endParaRPr lang="en-US" sz="186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6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Default gateway</a:t>
                      </a:r>
                      <a:endParaRPr lang="en-US" sz="186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6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helps me reach other networks?</a:t>
                      </a:r>
                      <a:endParaRPr lang="en-US" sz="186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6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Name-lookup service</a:t>
                      </a:r>
                      <a:endParaRPr lang="en-US" sz="186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6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helps find the website's address?</a:t>
                      </a:r>
                      <a:endParaRPr lang="en-US" sz="186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5800" y="3975627"/>
            <a:ext cx="10820400" cy="1860591"/>
          </a:xfrm>
          <a:prstGeom prst="roundRect">
            <a:avLst>
              <a:gd name="adj" fmla="val 2457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3975627"/>
            <a:ext cx="76200" cy="186059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4070877"/>
            <a:ext cx="10363200" cy="254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14400" y="4402535"/>
            <a:ext cx="10363200" cy="11159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5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"Settings" here means four answers your computer needs before it can talk to anything: who it is, who is nearby, who forwards its traffic outward, and who translates names into addresses.</a:t>
            </a:r>
            <a:endParaRPr lang="en-US" sz="215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 Tell the browser where you want to go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02308"/>
            <a:ext cx="10820400" cy="23496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166264"/>
            <a:ext cx="10820400" cy="1243936"/>
          </a:xfrm>
          <a:prstGeom prst="roundRect">
            <a:avLst>
              <a:gd name="adj" fmla="val 367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4166264"/>
            <a:ext cx="76200" cy="124393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261514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604414"/>
            <a:ext cx="10363200" cy="73758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whole line is a </a:t>
            </a:r>
            <a:pPr algn="l" indent="0" marL="0">
              <a:lnSpc>
                <a:spcPct val="136000"/>
              </a:lnSpc>
              <a:buNone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 web address. It names the rules to use (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), the site to talk to (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www.depaul.edu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), and optionally which page (nothing here, so: the home page).</a:t>
            </a:r>
            <a:endParaRPr lang="en-US" sz="2256" dirty="0"/>
          </a:p>
        </p:txBody>
      </p:sp>
      <p:sp>
        <p:nvSpPr>
          <p:cNvPr id="12" name="Text 9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interprets the address before asking for the page.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 Find an address for the name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83258"/>
            <a:ext cx="10820400" cy="2250491"/>
          </a:xfrm>
          <a:prstGeom prst="roundRect">
            <a:avLst>
              <a:gd name="adj" fmla="val 2032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258"/>
            <a:ext cx="76200" cy="225049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78508"/>
            <a:ext cx="103632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096643"/>
            <a:ext cx="10363200" cy="140276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name-lookup service is called </a:t>
            </a:r>
            <a:pPr algn="l" indent="0" marL="0">
              <a:lnSpc>
                <a:spcPct val="136000"/>
              </a:lnSpc>
              <a:buNone/>
            </a:pPr>
            <a:r>
              <a:rPr lang="en-US" sz="2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</a:t>
            </a:r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 Domain Name System: a directory that turns a name people can remember into an address machines can use. Looking up the address is not the same job as downloading the page.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4048049"/>
            <a:ext cx="5219700" cy="1862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computer asks</a:t>
            </a:r>
            <a:endParaRPr lang="en-US" sz="1755" dirty="0"/>
          </a:p>
        </p:txBody>
      </p:sp>
      <p:sp>
        <p:nvSpPr>
          <p:cNvPr id="12" name="Text 10"/>
          <p:cNvSpPr/>
          <p:nvPr/>
        </p:nvSpPr>
        <p:spPr>
          <a:xfrm>
            <a:off x="685800" y="4323493"/>
            <a:ext cx="5219700" cy="155419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human-friendly name is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www.depaul.edu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 needs a network destination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or operating system may already know a usable answer</a:t>
            </a:r>
            <a:endParaRPr lang="en-US" sz="1872" dirty="0"/>
          </a:p>
        </p:txBody>
      </p:sp>
      <p:sp>
        <p:nvSpPr>
          <p:cNvPr id="13" name="Text 11"/>
          <p:cNvSpPr/>
          <p:nvPr/>
        </p:nvSpPr>
        <p:spPr>
          <a:xfrm>
            <a:off x="6286500" y="4048049"/>
            <a:ext cx="5219700" cy="1862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lookup service helps</a:t>
            </a:r>
            <a:endParaRPr lang="en-US" sz="1755" dirty="0"/>
          </a:p>
        </p:txBody>
      </p:sp>
      <p:sp>
        <p:nvSpPr>
          <p:cNvPr id="14" name="Text 12"/>
          <p:cNvSpPr/>
          <p:nvPr/>
        </p:nvSpPr>
        <p:spPr>
          <a:xfrm>
            <a:off x="6286500" y="4323493"/>
            <a:ext cx="5219700" cy="155419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needed, it finds an address for the name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may be more than one usable address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can change while the familiar name stays the same</a:t>
            </a:r>
            <a:endParaRPr lang="en-US" sz="187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5. Get from the laptop to the way out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02308"/>
            <a:ext cx="10820400" cy="37459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 remote website, the computer hands outgoing traffic to a local gateway.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6. Networks carry the conversation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26108"/>
            <a:ext cx="10820400" cy="414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visit crosses several networks, not a direct wire.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73986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 of the path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Its job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network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Carry traffic to the way out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Gateway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Cross the network boundary and route replies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Internet routers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Forward toward the destination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Website's network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Deliver traffic to the web service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MDN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does the Internet work?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7–8. Start a conversation, then ask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83258"/>
            <a:ext cx="10820400" cy="2250491"/>
          </a:xfrm>
          <a:prstGeom prst="roundRect">
            <a:avLst>
              <a:gd name="adj" fmla="val 2032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258"/>
            <a:ext cx="76200" cy="225049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78508"/>
            <a:ext cx="103632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096643"/>
            <a:ext cx="10363200" cy="140276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Being able to talk to the site and asking for a particular page are different steps. </a:t>
            </a:r>
            <a:pPr algn="l" indent="0" marL="0">
              <a:lnSpc>
                <a:spcPct val="136000"/>
              </a:lnSpc>
              <a:buNone/>
            </a:pPr>
            <a:r>
              <a:rPr lang="en-US" sz="2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</a:t>
            </a:r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means the conversation is scrambled in transit, so people between you and the site can see that you are talking to it, but not what you sent.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4048049"/>
            <a:ext cx="5219700" cy="1862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 ready to talk</a:t>
            </a:r>
            <a:endParaRPr lang="en-US" sz="1755" dirty="0"/>
          </a:p>
        </p:txBody>
      </p:sp>
      <p:sp>
        <p:nvSpPr>
          <p:cNvPr id="12" name="Text 10"/>
          <p:cNvSpPr/>
          <p:nvPr/>
        </p:nvSpPr>
        <p:spPr>
          <a:xfrm>
            <a:off x="685800" y="4323493"/>
            <a:ext cx="5219700" cy="155419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reaches a service for the website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this HTTPS visit, it prepares a private conversation with the intended site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previously established conversation may be reusable</a:t>
            </a:r>
            <a:endParaRPr lang="en-US" sz="1872" dirty="0"/>
          </a:p>
        </p:txBody>
      </p:sp>
      <p:sp>
        <p:nvSpPr>
          <p:cNvPr id="13" name="Text 11"/>
          <p:cNvSpPr/>
          <p:nvPr/>
        </p:nvSpPr>
        <p:spPr>
          <a:xfrm>
            <a:off x="6286500" y="4048049"/>
            <a:ext cx="5219700" cy="2172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2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for the page</a:t>
            </a:r>
            <a:endParaRPr lang="en-US" sz="1872" dirty="0"/>
          </a:p>
        </p:txBody>
      </p:sp>
      <p:sp>
        <p:nvSpPr>
          <p:cNvPr id="14" name="Text 12"/>
          <p:cNvSpPr/>
          <p:nvPr/>
        </p:nvSpPr>
        <p:spPr>
          <a:xfrm>
            <a:off x="6286500" y="4360398"/>
            <a:ext cx="5219700" cy="15103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9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requests the site's home page</a:t>
            </a:r>
            <a:endParaRPr lang="en-US" sz="1997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9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can include context such as a language preference or a previous visit</a:t>
            </a:r>
            <a:endParaRPr lang="en-US" sz="1997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9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service decides how to answer</a:t>
            </a:r>
            <a:endParaRPr lang="en-US" sz="199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9. The website's front door decides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02308"/>
            <a:ext cx="10820400" cy="37459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illustrative website architecture, not a verified diagram of DePaul's current deployment.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10. The application may need information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83258"/>
            <a:ext cx="10820400" cy="1504340"/>
          </a:xfrm>
          <a:prstGeom prst="roundRect">
            <a:avLst>
              <a:gd name="adj" fmla="val 303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258"/>
            <a:ext cx="76200" cy="150434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78508"/>
            <a:ext cx="103632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096643"/>
            <a:ext cx="10363200" cy="7013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normally talks to the web service, not directly to the service's private database.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3301898"/>
            <a:ext cx="5219700" cy="3064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4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ready-made page</a:t>
            </a:r>
            <a:endParaRPr lang="en-US" sz="2204" dirty="0"/>
          </a:p>
        </p:txBody>
      </p:sp>
      <p:sp>
        <p:nvSpPr>
          <p:cNvPr id="12" name="Text 10"/>
          <p:cNvSpPr/>
          <p:nvPr/>
        </p:nvSpPr>
        <p:spPr>
          <a:xfrm>
            <a:off x="685800" y="3720339"/>
            <a:ext cx="5219700" cy="21307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may already exist as a file</a:t>
            </a:r>
            <a:endParaRPr lang="en-US" sz="235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service can return it without assembling new information</a:t>
            </a:r>
            <a:endParaRPr lang="en-US" sz="235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every visit requires a database query</a:t>
            </a:r>
            <a:endParaRPr lang="en-US" sz="2351" dirty="0"/>
          </a:p>
        </p:txBody>
      </p:sp>
      <p:sp>
        <p:nvSpPr>
          <p:cNvPr id="13" name="Text 11"/>
          <p:cNvSpPr/>
          <p:nvPr/>
        </p:nvSpPr>
        <p:spPr>
          <a:xfrm>
            <a:off x="6286500" y="3301898"/>
            <a:ext cx="5219700" cy="2627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47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page assembled for a request</a:t>
            </a:r>
            <a:endParaRPr lang="en-US" sz="2047" dirty="0"/>
          </a:p>
        </p:txBody>
      </p:sp>
      <p:sp>
        <p:nvSpPr>
          <p:cNvPr id="14" name="Text 12"/>
          <p:cNvSpPr/>
          <p:nvPr/>
        </p:nvSpPr>
        <p:spPr>
          <a:xfrm>
            <a:off x="6286500" y="3668599"/>
            <a:ext cx="5219700" cy="21917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application may read stored content or another service</a:t>
            </a:r>
            <a:endParaRPr lang="en-US" sz="2183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may check what the visitor is allowed to see</a:t>
            </a:r>
            <a:endParaRPr lang="en-US" sz="2183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creates a response for the browser</a:t>
            </a:r>
            <a:endParaRPr lang="en-US" sz="218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11. A response makes the return trip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26108"/>
            <a:ext cx="10820400" cy="414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delivered response is not yet a usable page.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73986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Participant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 job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service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Send content, a new location, or a problem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Return-path networks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Carry the response back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network and computer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Deliver to the right device and application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Browser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Decide what to do with the response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12. Request the other pieces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83258"/>
            <a:ext cx="10820400" cy="2250491"/>
          </a:xfrm>
          <a:prstGeom prst="roundRect">
            <a:avLst>
              <a:gd name="adj" fmla="val 2032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258"/>
            <a:ext cx="76200" cy="225049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78508"/>
            <a:ext cx="103632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096643"/>
            <a:ext cx="10363200" cy="140276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response is not necessarily the whole page. One visit can involve many requests. A </a:t>
            </a:r>
            <a:pPr algn="l" indent="0" marL="0">
              <a:lnSpc>
                <a:spcPct val="136000"/>
              </a:lnSpc>
              <a:buNone/>
            </a:pPr>
            <a:r>
              <a:rPr lang="en-US" sz="2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 copy</a:t>
            </a:r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 cache — is a local copy kept from an earlier visit so the same item does not have to be fetched twice.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4048049"/>
            <a:ext cx="5219700" cy="2604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42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page can ask for more</a:t>
            </a:r>
            <a:endParaRPr lang="en-US" sz="2042" dirty="0"/>
          </a:p>
        </p:txBody>
      </p:sp>
      <p:sp>
        <p:nvSpPr>
          <p:cNvPr id="12" name="Text 10"/>
          <p:cNvSpPr/>
          <p:nvPr/>
        </p:nvSpPr>
        <p:spPr>
          <a:xfrm>
            <a:off x="685800" y="4412208"/>
            <a:ext cx="5219700" cy="1448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Images and fonts</a:t>
            </a:r>
            <a:endParaRPr lang="en-US" sz="217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Appearance rules and application code</a:t>
            </a:r>
            <a:endParaRPr lang="en-US" sz="217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 information needed by the page</a:t>
            </a:r>
            <a:endParaRPr lang="en-US" sz="2178" dirty="0"/>
          </a:p>
        </p:txBody>
      </p:sp>
      <p:sp>
        <p:nvSpPr>
          <p:cNvPr id="13" name="Text 11"/>
          <p:cNvSpPr/>
          <p:nvPr/>
        </p:nvSpPr>
        <p:spPr>
          <a:xfrm>
            <a:off x="6286500" y="4048049"/>
            <a:ext cx="5219700" cy="1862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Earlier jobs can happen again</a:t>
            </a:r>
            <a:endParaRPr lang="en-US" sz="1755" dirty="0"/>
          </a:p>
        </p:txBody>
      </p:sp>
      <p:sp>
        <p:nvSpPr>
          <p:cNvPr id="14" name="Text 12"/>
          <p:cNvSpPr/>
          <p:nvPr/>
        </p:nvSpPr>
        <p:spPr>
          <a:xfrm>
            <a:off x="6286500" y="4323493"/>
            <a:ext cx="5219700" cy="155419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Another resource may be on another service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resources can be reused from saved copies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Several requests can be in progress together</a:t>
            </a:r>
            <a:endParaRPr lang="en-US" sz="187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13. The browser makes the page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02308"/>
            <a:ext cx="10820400" cy="219550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012114"/>
            <a:ext cx="10820400" cy="1398086"/>
          </a:xfrm>
          <a:prstGeom prst="roundRect">
            <a:avLst>
              <a:gd name="adj" fmla="val 327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4012114"/>
            <a:ext cx="76200" cy="139808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107364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450264"/>
            <a:ext cx="10363200" cy="89173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four jobs have names you will use for ten weeks: </a:t>
            </a:r>
            <a:pPr algn="l" indent="0" marL="0">
              <a:lnSpc>
                <a:spcPct val="136000"/>
              </a:lnSpc>
              <a:buNone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structure, </a:t>
            </a:r>
            <a:pPr algn="l" indent="0" marL="0">
              <a:lnSpc>
                <a:spcPct val="136000"/>
              </a:lnSpc>
              <a:buNone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appearance, images are the media, and </a:t>
            </a:r>
            <a:pPr algn="l" indent="0" marL="0">
              <a:lnSpc>
                <a:spcPct val="136000"/>
              </a:lnSpc>
              <a:buNone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behavior. The browser combines them into the page you see.</a:t>
            </a:r>
            <a:endParaRPr lang="en-US" sz="2256" dirty="0"/>
          </a:p>
        </p:txBody>
      </p:sp>
      <p:sp>
        <p:nvSpPr>
          <p:cNvPr id="12" name="Text 9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turns received resources into a page. Work can overlap as resources arrive.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14. Visible is not always ready to use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83258"/>
            <a:ext cx="10820400" cy="1504340"/>
          </a:xfrm>
          <a:prstGeom prst="roundRect">
            <a:avLst>
              <a:gd name="adj" fmla="val 303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258"/>
            <a:ext cx="76200" cy="150434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78508"/>
            <a:ext cx="103632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096643"/>
            <a:ext cx="10363200" cy="7013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destination is a usable experience, not just a successful connection.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3301898"/>
            <a:ext cx="5219700" cy="3064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4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Something is on the screen</a:t>
            </a:r>
            <a:endParaRPr lang="en-US" sz="2204" dirty="0"/>
          </a:p>
        </p:txBody>
      </p:sp>
      <p:sp>
        <p:nvSpPr>
          <p:cNvPr id="12" name="Text 10"/>
          <p:cNvSpPr/>
          <p:nvPr/>
        </p:nvSpPr>
        <p:spPr>
          <a:xfrm>
            <a:off x="685800" y="3720339"/>
            <a:ext cx="5219700" cy="21307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and a logo may already be visible</a:t>
            </a:r>
            <a:endParaRPr lang="en-US" sz="235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work may still be in progress</a:t>
            </a:r>
            <a:endParaRPr lang="en-US" sz="235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Appearance alone does not prove every feature works</a:t>
            </a:r>
            <a:endParaRPr lang="en-US" sz="2351" dirty="0"/>
          </a:p>
        </p:txBody>
      </p:sp>
      <p:sp>
        <p:nvSpPr>
          <p:cNvPr id="13" name="Text 11"/>
          <p:cNvSpPr/>
          <p:nvPr/>
        </p:nvSpPr>
        <p:spPr>
          <a:xfrm>
            <a:off x="6286500" y="330189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visitor can do the job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286500" y="3736238"/>
            <a:ext cx="5219700" cy="1780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Links and controls respond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Needed information is available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action may start another request-and-response cycle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milestones, not one checkbox</a:t>
            </a:r>
            <a:endParaRPr lang="en-US" sz="4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the student observes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establishes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does not establish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Wi-Fi says connected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local connection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 to every Internet destination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Another website opens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 least one usable path and service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DePaul's site is available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DePaul's home page appears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Enough work completed to display it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link and feature is usable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 or Windows: the same jobs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83258"/>
            <a:ext cx="10820400" cy="1504340"/>
          </a:xfrm>
          <a:prstGeom prst="roundRect">
            <a:avLst>
              <a:gd name="adj" fmla="val 303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258"/>
            <a:ext cx="76200" cy="150434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78508"/>
            <a:ext cx="103632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096643"/>
            <a:ext cx="10363200" cy="7013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 examples include Windows PowerShell and macOS Terminal (zsh or bash). Follow your OS, not both.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3301898"/>
            <a:ext cx="5219700" cy="3064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4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stays the same</a:t>
            </a:r>
            <a:endParaRPr lang="en-US" sz="2204" dirty="0"/>
          </a:p>
        </p:txBody>
      </p:sp>
      <p:sp>
        <p:nvSpPr>
          <p:cNvPr id="12" name="Text 10"/>
          <p:cNvSpPr/>
          <p:nvPr/>
        </p:nvSpPr>
        <p:spPr>
          <a:xfrm>
            <a:off x="685800" y="3720339"/>
            <a:ext cx="5219700" cy="21307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 and configure a network connection</a:t>
            </a:r>
            <a:endParaRPr lang="en-US" sz="235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and communicate with the site</a:t>
            </a:r>
            <a:endParaRPr lang="en-US" sz="235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 resources, display a page, and respond to the user</a:t>
            </a:r>
            <a:endParaRPr lang="en-US" sz="2351" dirty="0"/>
          </a:p>
        </p:txBody>
      </p:sp>
      <p:sp>
        <p:nvSpPr>
          <p:cNvPr id="13" name="Text 11"/>
          <p:cNvSpPr/>
          <p:nvPr/>
        </p:nvSpPr>
        <p:spPr>
          <a:xfrm>
            <a:off x="6286500" y="3301898"/>
            <a:ext cx="5219700" cy="3064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4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can look different</a:t>
            </a:r>
            <a:endParaRPr lang="en-US" sz="2204" dirty="0"/>
          </a:p>
        </p:txBody>
      </p:sp>
      <p:sp>
        <p:nvSpPr>
          <p:cNvPr id="14" name="Text 12"/>
          <p:cNvSpPr/>
          <p:nvPr/>
        </p:nvSpPr>
        <p:spPr>
          <a:xfrm>
            <a:off x="6286500" y="3720339"/>
            <a:ext cx="5219700" cy="21307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 screens and permission prompts</a:t>
            </a:r>
            <a:endParaRPr lang="en-US" sz="235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commands and diagnostic output</a:t>
            </a:r>
            <a:endParaRPr lang="en-US" sz="235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menus and developer tools</a:t>
            </a:r>
            <a:endParaRPr lang="en-US" sz="235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000250"/>
            <a:ext cx="76200" cy="2667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" y="2000250"/>
            <a:ext cx="8953500" cy="2667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3450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'I can visit a website' to 'I can explain and operate what makes a web application work.'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066800" y="4800600"/>
            <a:ext cx="85725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The course destination</a:t>
            </a:r>
            <a:endParaRPr lang="en-US" sz="1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4762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Solo (3 min) → self-check against the model map (4 min) → instructor debrief (3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Tell the story without the tools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85800" y="2750058"/>
            <a:ext cx="10820400" cy="2225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Draw the journey from joining Wi-Fi to using DePaul's home page. Include the computer, local network, Internet, and website.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one job before the page request and one job after the first response arrives.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can "Wi-Fi connected" be true while the page is not usable?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Continue with B/C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24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1465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Continue with Blocks B and C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network to web page — Week 1 Block A</dc:title>
  <dc:subject>Joining a network, visiting https://www.depaul.edu, and seeing where this course will take us</dc:subject>
  <dc:creator>Course staff</dc:creator>
  <cp:lastModifiedBy>Course staff</cp:lastModifiedBy>
  <cp:revision>1</cp:revision>
  <dcterms:created xsi:type="dcterms:W3CDTF">2026-09-10T21:24:03Z</dcterms:created>
  <dcterms:modified xsi:type="dcterms:W3CDTF">2026-09-10T21:24:03Z</dcterms:modified>
</cp:coreProperties>
</file>