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</p:sldIdLst>
  <p:notesMasterIdLst>
    <p:notesMasterId r:id="rId9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review; source Block A,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review; source Block A,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logistics; source Block A, slide 3.
SOURCES:
Course — [syllabus](../../../docs/new_syllabus.md) · [AI use policy](../../../docs/ai-use-policy.md) · [evidence standard](../../../docs/evidence-standard.md)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12.
SOURCES:
MDN — [How does the Internet work?](https://developer.mozilla.org/en-US/docs/Learn_web_development/Howto/Web_mechanics/How_does_the_Internet_work)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6.
SOURCES:
Course — [full annotated capture](../samples/network-config.txt)
Microsoft — [what 168.63.129.16 is](https://learn.microsoft.com/en-us/azure/virtual-network/what-is-ip-address-168-63-129-16)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7.
PLAIN-TEXT COMMANDS:
Copy from here or the Markdown/HTML source; colored PowerPoint code uses nonbreaking spaces for layout.
ipconfig /all
Get-NetIPConfiguration
SOURCES:
Microsoft — [Get-NetIPConfiguration](https://learn.microsoft.com/powershell/module/nettcpip/get-netipconfiguration)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8.
PLAIN-TEXT COMMANDS:
Copy from here or the Markdown/HTML source; colored PowerPoint code uses nonbreaking spaces for layout.
networksetup -listallhardwareports
printf 'Device for active Wi-Fi/Ethernet (from list): '
read -r iface
ipconfig getifaddr "$iface"
ipconfig getpacket "$iface"
ifconfig "$iface"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10.
PLAIN-TEXT COMMANDS:
Copy from here or the Markdown/HTML source; colored PowerPoint code uses nonbreaking spaces for layout.
route -n get default
scutil --dns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11.
SOURCES:
IETF — [RFC 2131 §3.1, DHCP client-server interaction](https://www.rfc-editor.org/rfc/rfc2131.html)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13.
SOURCES:
IETF — [RFC 826, Address Resolution Protocol](https://www.rfc-editor.org/rfc/rfc826.html) · [RFC 4861, Neighbor Discovery](https://www.rfc-editor.org/rfc/rfc4861.html)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14.
SOURCES:
IETF — [RFC 1918, private address allocation](https://www.rfc-editor.org/rfc/rfc1918.html) · [RFC 3927, IPv4 link-local](https://www.rfc-editor.org/rfc/rfc3927.html)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16.
SOURCES:
Course — [annotated route table](../samples/network-config.txt)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17.
PLAIN-TEXT COMMANDS:
Copy from here or the Markdown/HTML source; colored PowerPoint code uses nonbreaking spaces for layout.
route print -4
arp -a
Get-NetNeighbor -AddressFamily IPv6
SOURCES:
Microsoft — [Get-NetNeighbor](https://learn.microsoft.com/powershell/module/nettcpip/get-netneighbor)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18.
PLAIN-TEXT COMMANDS:
Copy from here or the Markdown/HTML source; colored PowerPoint code uses nonbreaking spaces for layout.
netstat -rn -f inet
route -n get default
arp -a
ndp -an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22.
SOURCES:
Course — [the full NAT capture](../samples/path-and-nat.txt)
IETF — [RFC 3022, Traditional NAT and NAPT](https://www.rfc-editor.org/rfc/rfc3022.html)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24.
SOURCES:
Course — [full socket capture](../samples/sockets-and-ports.txt)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25.
SOURCES:
Course — [the full transcript](../samples/sockets-and-ports.txt)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26.
SOURCES:
Course — [the stub server](../samples/campuspulse-stub.mjs)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27.
PLAIN-TEXT COMMANDS:
Copy from here or the Markdown/HTML source; colored PowerPoint code uses nonbreaking spaces for layout.
node --version
node .\weeks\week01\samples\campuspulse-stub.mjs 127.0.0.1 8471
SOURCES:
Course — [stub arguments and response fields](../samples/campuspulse-stub.mjs)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28.
PLAIN-TEXT COMMANDS:
Copy from here or the Markdown/HTML source; colored PowerPoint code uses nonbreaking spaces for layout.
node --version
node ./weeks/week01/samples/campuspulse-stub.mjs 127.0.0.1 8471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29.
PLAIN-TEXT COMMANDS:
Copy from here or the Markdown/HTML source; colored PowerPoint code uses nonbreaking spaces for layout.
ipconfig
$lan = Read-Host 'Active LAN IPv4, not 127.0.0.1'
Get-NetTCPConnection -State Listen -LocalPort 8471 |
  Select-Object LocalAddress, LocalPort, OwningProcess
curl.exe --noproxy '*' -sS --max-time 3 http://127.0.0.1:8471/healthz
curl.exe --noproxy '*' -sS --max-time 3 "http://${lan}:8471/healthz"
$LASTEXITCODE
SOURCES:
Microsoft — [`Get-NetTCPConnection`](https://learn.microsoft.com/powershell/module/nettcpip/get-nettcpconnection)
Course — [socket evidence](../samples/sockets-and-ports.txt)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30.
PLAIN-TEXT COMMANDS:
Copy from here or the Markdown/HTML source; colored PowerPoint code uses nonbreaking spaces for layout.
networksetup -listallhardwareports
printf 'Active LAN Device from list: '; read -r iface
lan=$(ipconfig getifaddr "$iface")
printf 'LAN IPv4: %s\n' "$lan"
# If blank, stop here and use the offline comparison.
lsof -nP -iTCP:8471 -sTCP:LISTEN
curl --noproxy '*' -sS --max-time 3 http://127.0.0.1:8471/healthz
curl --noproxy '*' -sS --max-time 3 "http://${lan}:8471/healthz"
printf 'exit=%s\n' "$?"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31.
PLAIN-TEXT COMMANDS:
Copy from here or the Markdown/HTML source; colored PowerPoint code uses nonbreaking spaces for layout.
node .\weeks\week01\samples\campuspulse-stub.mjs 0.0.0.0 8471
SOURCES:
Course — [stub server](../samples/campuspulse-stub.mjs)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32.
PLAIN-TEXT COMMANDS:
Copy from here or the Markdown/HTML source; colored PowerPoint code uses nonbreaking spaces for layout.
node ./weeks/week01/samples/campuspulse-stub.mjs 0.0.0.0 8471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33.
SOURCES:
Course — [response fields](../samples/campuspulse-stub.mjs)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34.
PLAIN-TEXT COMMANDS:
Copy from here or the Markdown/HTML source; colored PowerPoint code uses nonbreaking spaces for layout.
Get-Content .\weeks\week01\samples\sockets-and-ports.txt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35.
PLAIN-TEXT COMMANDS:
Copy from here or the Markdown/HTML source; colored PowerPoint code uses nonbreaking spaces for layout.
cat ./weeks/week01/samples/sockets-and-ports.txt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37.
SOURCES:
Course — [supplied failure prompt and artifacts](../samples/injected-failures/failure-01-refused-from-lan/README.md)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5.
SOURCES:
IETF — [RFC 9293, Transmission Control Protocol](https://www.rfc-editor.org/rfc/rfc9293.html)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8.
SOURCES:
IETF — [RFC 9293 §3.6, closing a connection](https://www.rfc-editor.org/rfc/rfc9293.html)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9.
SOURCES:
Course — [the full transcripts and a decision table](../samples/refused-vs-timeout.txt)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10.
PLAIN-TEXT COMMANDS:
Copy from here or the Markdown/HTML source; colored PowerPoint code uses nonbreaking spaces for layout.
node ./weeks/week01/samples/abort-server.mjs 8472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11.
PLAIN-TEXT COMMANDS:
Copy from here or the Markdown/HTML source; colored PowerPoint code uses nonbreaking spaces for layout.
node .\weeks\week01\samples\abort-server.mjs 8472
SOURCES:
Course — [local reset fixture](../samples/abort-server.mjs)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12.
PLAIN-TEXT COMMANDS:
Copy from here or the Markdown/HTML source; colored PowerPoint code uses nonbreaking spaces for layout.
curl --noproxy '*' -v --max-time 5 http://127.0.0.1:8472/
printf 'exit=%s\n' "$?"
# Ctrl+C in A; repeat these two commands to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13.
PLAIN-TEXT COMMANDS:
Copy from here or the Markdown/HTML source; colored PowerPoint code uses nonbreaking spaces for layout.
curl.exe --noproxy '*' -v --max-time 5 http://127.0.0.1:8472/
$LASTEXITCODE
# Now Ctrl+C in Terminal A; repeat both lines to compare.
SOURCES:
curl — [exit codes and verbose diagnostics](https://curl.se/docs/manpage.html)
Course — [reset fixture](../samples/abort-server.mjs)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14.
SOURCES:
Course — [failure decision table](../samples/refused-vs-timeout.txt)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15.
PLAIN-TEXT COMMANDS:
Copy from here or the Markdown/HTML source; colored PowerPoint code uses nonbreaking spaces for layout.
cat ./weeks/week01/samples/refused-vs-timeout.txt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16.
PLAIN-TEXT COMMANDS:
Copy from here or the Markdown/HTML source; colored PowerPoint code uses nonbreaking spaces for layout.
Get-Content .\weeks\week01\samples\refused-vs-timeout.txt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17.
SOURCES:
IETF — [RFC 768, User Datagram Protocol](https://www.rfc-editor.org/rfc/rfc768.html)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18.
SOURCES:
IETF — [RFC 9000, QUIC transport](https://www.rfc-editor.org/rfc/rfc9000.html) · [RFC 9114, HTTP/3](https://www.rfc-editor.org/rfc/rfc9114.html)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21.
SOURCES:
[curl manual — `--write-out` variables](https://curl.se/docs/manpage.html)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22.
PLAIN-TEXT COMMANDS:
Copy from here or the Markdown/HTML source; colored PowerPoint code uses nonbreaking spaces for layout.
$fmt = 'dns=%{time_namelookup} tcp=%{time_connect} '
$fmt += 'tls=%{time_appconnect} ttfb=%{time_starttransfer} '
$fmt += 'total=%{time_total}\n'
curl.exe -sS -o NUL --max-time 15 -w $fmt https://www.depaul.edu/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23.
PLAIN-TEXT COMMANDS:
Copy from here or the Markdown/HTML source; colored PowerPoint code uses nonbreaking spaces for layout.
fmt='dns=%{time_namelookup} tcp=%{time_connect} '
fmt="${fmt}tls=%{time_appconnect} ttfb=%{time_starttransfer} "
fmt="${fmt}total=%{time_total}\n"
curl -sS -o /dev/null --max-time 15 -w "$fmt" https://www.depaul.edu/
SOURCES:
curl — [write-out variables](https://curl.se/docs/manpage.html)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24.
SOURCES:
Wireshark — [display filter reference](https://www.wireshark.org/docs/wsug_html_chunked/ChWorkDisplayFilterSection.html)
Course — [a fully worked annotated capture](../samples/capture-walkthrough.md)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25.
SOURCES:
Meta Engineering — [More details about the October 4 outage](https://engineering.fb.com/2021/10/05/networking-traffic/outage-details/) (primary postmortem)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26.
SOURCES:
MDN — [Navigation and resource timings](https://developer.mozilla.org/en-US/docs/Web/Performance/Guides/Navigation_and_resource_timings)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27.
SOURCES:
Course — [the URL chain and which week owns each link](../../../docs/course-map.md)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practice; source Block C, slide 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homework; source Block C, slide 29.
SOURCES:
Course — [HW1 handout](../homework.md) · [evidence standard](../../../docs/evidence-standard.md)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closing; source Block C, slide 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../../../docs/new_syllabus.md" TargetMode="External"/><Relationship Id="rId2" Type="http://schemas.openxmlformats.org/officeDocument/2006/relationships/hyperlink" Target="../../../docs/ai-use-policy.md" TargetMode="External"/><Relationship Id="rId3" Type="http://schemas.openxmlformats.org/officeDocument/2006/relationships/hyperlink" Target="../../../docs/evidence-standard.md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mozilla.org/en-US/docs/Learn_web_development/Howto/Web_mechanics/How_does_the_Internet_wor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../samples/network-config.txt" TargetMode="External"/><Relationship Id="rId2" Type="http://schemas.openxmlformats.org/officeDocument/2006/relationships/hyperlink" Target="https://learn.microsoft.com/en-us/azure/virtual-network/what-is-ip-address-168-63-129-16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powershell/module/nettcpip/get-netipconfiguratio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fc-editor.org/rfc/rfc2131.html" TargetMode="External"/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826.html" TargetMode="External"/><Relationship Id="rId2" Type="http://schemas.openxmlformats.org/officeDocument/2006/relationships/hyperlink" Target="https://www.rfc-editor.org/rfc/rfc4861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1918.html" TargetMode="External"/><Relationship Id="rId2" Type="http://schemas.openxmlformats.org/officeDocument/2006/relationships/hyperlink" Target="https://www.rfc-editor.org/rfc/rfc3927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hyperlink" Target="../samples/network-config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powershell/module/nettcpip/get-netneighbo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hyperlink" Target="../samples/path-and-nat.txt" TargetMode="External"/><Relationship Id="rId2" Type="http://schemas.openxmlformats.org/officeDocument/2006/relationships/hyperlink" Target="https://www.rfc-editor.org/rfc/rfc3022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hyperlink" Target="../samples/sockets-and-ports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hyperlink" Target="../samples/sockets-and-ports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hyperlink" Target="../samples/campuspulse-stub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hyperlink" Target="../samples/campuspulse-stub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powershell/module/nettcpip/get-nettcpconnection" TargetMode="External"/><Relationship Id="rId2" Type="http://schemas.openxmlformats.org/officeDocument/2006/relationships/hyperlink" Target="../samples/sockets-and-ports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hyperlink" Target="../samples/campuspulse-stub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hyperlink" Target="../samples/campuspulse-stub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hyperlink" Target="../samples/injected-failures/failure-01-refused-from-lan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fc-editor.org/rfc/rfc9293.html" TargetMode="External"/><Relationship Id="rId1" Type="http://schemas.openxmlformats.org/officeDocument/2006/relationships/image" Target="../media/image-65-1.png"/><Relationship Id="rId2" Type="http://schemas.openxmlformats.org/officeDocument/2006/relationships/image" Target="../media/image-6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293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hyperlink" Target="../samples/refused-vs-timeout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hyperlink" Target="../samples/abort-server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hyperlink" Target="https://curl.se/docs/manpage.html" TargetMode="External"/><Relationship Id="rId2" Type="http://schemas.openxmlformats.org/officeDocument/2006/relationships/hyperlink" Target="../samples/abort-server.mj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hyperlink" Target="../samples/refused-vs-timeout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768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000.html" TargetMode="External"/><Relationship Id="rId2" Type="http://schemas.openxmlformats.org/officeDocument/2006/relationships/hyperlink" Target="https://www.rfc-editor.org/rfc/rfc9114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hyperlink" Target="https://curl.se/docs/manpage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hyperlink" Target="https://curl.se/docs/manpage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ireshark.org/docs/wsug_html_chunked/ChWorkDisplayFilterSection.html" TargetMode="External"/><Relationship Id="rId2" Type="http://schemas.openxmlformats.org/officeDocument/2006/relationships/hyperlink" Target="../samples/capture-walkthrough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hyperlink" Target="https://engineering.fb.com/2021/10/05/networking-traffic/outage-detail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mozilla.org/en-US/docs/Web/Performance/Guides/Navigation_and_resource_timing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hyperlink" Target="../../../docs/course-map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hyperlink" Target="../homework.md" TargetMode="External"/><Relationship Id="rId2" Type="http://schemas.openxmlformats.org/officeDocument/2006/relationships/hyperlink" Target="../homework.md" TargetMode="External"/><Relationship Id="rId3" Type="http://schemas.openxmlformats.org/officeDocument/2006/relationships/hyperlink" Target="../../../docs/evidence-standard.md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hyperlink" Target="../../week02/prep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8097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57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Course Intro and the Network Underneath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685800" y="3943350"/>
            <a:ext cx="8953500" cy="857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Review, preparation, logistics, teaching, individual practice, and the end-of-class brief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581275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581275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 · Full session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81375" y="4991100"/>
            <a:ext cx="1533525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1375" y="4991100"/>
            <a:ext cx="1533525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2026-09-05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laptops, one destination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83258"/>
            <a:ext cx="10820400" cy="1504340"/>
          </a:xfrm>
          <a:prstGeom prst="roundRect">
            <a:avLst>
              <a:gd name="adj" fmla="val 303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258"/>
            <a:ext cx="76200" cy="150434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78508"/>
            <a:ext cx="1036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096643"/>
            <a:ext cx="10363200" cy="7013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illustrative classroom scenario: one simple goal, many cooperating systems.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330189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Maya's Mac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85800" y="3736238"/>
            <a:ext cx="5219700" cy="1780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Joins the classroom Wi-Fi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https://www.depaul.edu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 the home page and follows a link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86500" y="330189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Luis's Windows laptop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286500" y="3736238"/>
            <a:ext cx="5219700" cy="1335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Joins the same classroom Wi-Fi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Enters the same web address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Wants the same usable page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Weekly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5517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the course rules live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685800" y="1470262"/>
            <a:ext cx="10820400" cy="27124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syllabus is the rulebook.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Schedule, grading, deadlines, and policies live there, and we walk through it separately today</a:t>
            </a:r>
            <a:endParaRPr lang="en-US" sz="211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slides never replace it.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If a slide and the syllabus ever disagree, the syllabus wins</a:t>
            </a:r>
            <a:endParaRPr lang="en-US" sz="211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companion documents: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AI-use policy, and the evidence standard that defines what counts as proof in this course</a:t>
            </a:r>
            <a:endParaRPr lang="en-US" sz="211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Unresolved questions go to the discussion board,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 an answer is written down once for everybody</a:t>
            </a:r>
            <a:endParaRPr lang="en-US" sz="2114" dirty="0"/>
          </a:p>
        </p:txBody>
      </p:sp>
      <p:sp>
        <p:nvSpPr>
          <p:cNvPr id="8" name="Shape 6"/>
          <p:cNvSpPr/>
          <p:nvPr/>
        </p:nvSpPr>
        <p:spPr>
          <a:xfrm>
            <a:off x="685800" y="4300213"/>
            <a:ext cx="10820400" cy="1280541"/>
          </a:xfrm>
          <a:prstGeom prst="roundRect">
            <a:avLst>
              <a:gd name="adj" fmla="val 3570"/>
            </a:avLst>
          </a:prstGeom>
          <a:solidFill>
            <a:srgbClr val="10321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00213"/>
            <a:ext cx="76200" cy="1280541"/>
          </a:xfrm>
          <a:prstGeom prst="rect">
            <a:avLst/>
          </a:prstGeom>
          <a:solidFill>
            <a:srgbClr val="86EF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395463"/>
            <a:ext cx="10363200" cy="234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86EFA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✦  TIP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708864"/>
            <a:ext cx="10363200" cy="6864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8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questions: now</a:t>
            </a:r>
            <a:pPr algn="l" indent="0" marL="0">
              <a:lnSpc>
                <a:spcPct val="136000"/>
              </a:lnSpc>
              <a:buNone/>
            </a:pPr>
            <a:r>
              <a:rPr lang="en-US" sz="198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before we start the journey. After this slide we are on the technical material.</a:t>
            </a:r>
            <a:endParaRPr lang="en-US" sz="1987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syllabus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use policy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evidence standard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map we will keep coming back to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02308"/>
            <a:ext cx="10820400" cy="37459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fresh visit, grouped into five stages. Later slides unpack the jobs inside each stage.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words about where your request goes</a:t>
            </a:r>
            <a:endParaRPr lang="en-US" sz="4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means, in one sentence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set of connected devices that can send messages to each other.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Internet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 enormous collection of networks that agreed to pass each other's messages.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IP address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numeric address a device uses on a network, so replies can find their way back.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Gateway (router)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device on your network that forwards traffic to destinations outside it.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3731133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731133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826383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169283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words name the route a request takes: your computer starts on one network, and its gateway sends it toward another.</a:t>
            </a:r>
            <a:endParaRPr lang="en-US" sz="22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6254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14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words about what your request asks for</a:t>
            </a:r>
            <a:endParaRPr lang="en-US" sz="4148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89822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7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Word</a:t>
                      </a:r>
                      <a:endParaRPr lang="en-US" sz="177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7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means, in one sentence</a:t>
                      </a:r>
                      <a:endParaRPr lang="en-US" sz="177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Domain name</a:t>
                      </a:r>
                      <a:endParaRPr lang="en-US" sz="19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human-friendly name of a site, such as www.depaul.edu.</a:t>
                      </a:r>
                      <a:endParaRPr lang="en-US" sz="19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and server</a:t>
                      </a:r>
                      <a:endParaRPr lang="en-US" sz="19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client asks for something (your browser); the server answers (the website's computer).</a:t>
                      </a:r>
                      <a:endParaRPr lang="en-US" sz="19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 / HTTPS</a:t>
                      </a:r>
                      <a:endParaRPr lang="en-US" sz="19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rules browsers and servers use to ask for and return pages. HTTPS is the private version.</a:t>
                      </a:r>
                      <a:endParaRPr lang="en-US" sz="19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</a:t>
                      </a:r>
                      <a:endParaRPr lang="en-US" sz="19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Any single item a page is made of: the page text, an image, a font, a stylesheet.</a:t>
                      </a:r>
                      <a:endParaRPr lang="en-US" sz="19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4241377"/>
            <a:ext cx="10820400" cy="1589818"/>
          </a:xfrm>
          <a:prstGeom prst="roundRect">
            <a:avLst>
              <a:gd name="adj" fmla="val 287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4241377"/>
            <a:ext cx="76200" cy="1589818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336627"/>
            <a:ext cx="10363200" cy="263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676447"/>
            <a:ext cx="10363200" cy="76962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these words describe </a:t>
            </a:r>
            <a:pPr algn="l" indent="0" marL="0">
              <a:lnSpc>
                <a:spcPct val="136000"/>
              </a:lnSpc>
              <a:buNone/>
            </a:pPr>
            <a:r>
              <a:rPr lang="en-US" sz="2228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</a:t>
            </a:r>
            <a:pPr algn="l" indent="0" marL="0">
              <a:lnSpc>
                <a:spcPct val="136000"/>
              </a:lnSpc>
              <a:buNone/>
            </a:pPr>
            <a:r>
              <a:rPr lang="en-US" sz="22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anything works yet. They are labels for the parts, so the story below has names to use.</a:t>
            </a:r>
            <a:endParaRPr lang="en-US" sz="222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 Join a local network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83258"/>
            <a:ext cx="10820400" cy="1504340"/>
          </a:xfrm>
          <a:prstGeom prst="roundRect">
            <a:avLst>
              <a:gd name="adj" fmla="val 303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258"/>
            <a:ext cx="76200" cy="150434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78508"/>
            <a:ext cx="1036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096643"/>
            <a:ext cx="10363200" cy="7013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"Connected to Wi-Fi" means a local connection exists. It does not prove the website works.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3301898"/>
            <a:ext cx="5219700" cy="2627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47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the computer</a:t>
            </a:r>
            <a:endParaRPr lang="en-US" sz="2047" dirty="0"/>
          </a:p>
        </p:txBody>
      </p:sp>
      <p:sp>
        <p:nvSpPr>
          <p:cNvPr id="12" name="Text 10"/>
          <p:cNvSpPr/>
          <p:nvPr/>
        </p:nvSpPr>
        <p:spPr>
          <a:xfrm>
            <a:off x="685800" y="3668599"/>
            <a:ext cx="5219700" cy="21917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Wi-Fi, or connect a network cable</a:t>
            </a:r>
            <a:endParaRPr lang="en-US" sz="2183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network adapter establishes a local connection</a:t>
            </a:r>
            <a:endParaRPr lang="en-US" sz="2183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 a password or sign-in if required</a:t>
            </a:r>
            <a:endParaRPr lang="en-US" sz="2183" dirty="0"/>
          </a:p>
        </p:txBody>
      </p:sp>
      <p:sp>
        <p:nvSpPr>
          <p:cNvPr id="13" name="Text 11"/>
          <p:cNvSpPr/>
          <p:nvPr/>
        </p:nvSpPr>
        <p:spPr>
          <a:xfrm>
            <a:off x="6286500" y="3301898"/>
            <a:ext cx="5219700" cy="2627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47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the local network</a:t>
            </a:r>
            <a:endParaRPr lang="en-US" sz="2047" dirty="0"/>
          </a:p>
        </p:txBody>
      </p:sp>
      <p:sp>
        <p:nvSpPr>
          <p:cNvPr id="14" name="Text 12"/>
          <p:cNvSpPr/>
          <p:nvPr/>
        </p:nvSpPr>
        <p:spPr>
          <a:xfrm>
            <a:off x="6286500" y="3668599"/>
            <a:ext cx="5219700" cy="21917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access point or switch connects the device</a:t>
            </a:r>
            <a:endParaRPr lang="en-US" sz="2183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policy decides what access is permitted</a:t>
            </a:r>
            <a:endParaRPr lang="en-US" sz="2183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networks require an additional sign-in page</a:t>
            </a:r>
            <a:endParaRPr lang="en-US" sz="218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3910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0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 The computer gets its bearings</a:t>
            </a:r>
            <a:endParaRPr lang="en-US" sz="4009" dirty="0"/>
          </a:p>
        </p:txBody>
      </p:sp>
      <p:sp>
        <p:nvSpPr>
          <p:cNvPr id="7" name="Text 5"/>
          <p:cNvSpPr/>
          <p:nvPr/>
        </p:nvSpPr>
        <p:spPr>
          <a:xfrm>
            <a:off x="685800" y="1562618"/>
            <a:ext cx="10820400" cy="3740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91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local connection still needs usable network settings.</a:t>
            </a:r>
            <a:endParaRPr lang="en-US" sz="2291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63989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Information</a:t>
                      </a:r>
                      <a:endParaRPr lang="en-US" sz="171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question it answers</a:t>
                      </a:r>
                      <a:endParaRPr lang="en-US" sz="171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6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This device's address</a:t>
                      </a:r>
                      <a:endParaRPr lang="en-US" sz="186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6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should replies go?</a:t>
                      </a:r>
                      <a:endParaRPr lang="en-US" sz="186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6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destinations</a:t>
                      </a:r>
                      <a:endParaRPr lang="en-US" sz="186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6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Which neighbors can I reach directly?</a:t>
                      </a:r>
                      <a:endParaRPr lang="en-US" sz="186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6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Default gateway</a:t>
                      </a:r>
                      <a:endParaRPr lang="en-US" sz="186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6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helps me reach other networks?</a:t>
                      </a:r>
                      <a:endParaRPr lang="en-US" sz="186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6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Name-lookup service</a:t>
                      </a:r>
                      <a:endParaRPr lang="en-US" sz="186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6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helps find the website's address?</a:t>
                      </a:r>
                      <a:endParaRPr lang="en-US" sz="186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3975627"/>
            <a:ext cx="10820400" cy="1860591"/>
          </a:xfrm>
          <a:prstGeom prst="roundRect">
            <a:avLst>
              <a:gd name="adj" fmla="val 2457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3975627"/>
            <a:ext cx="76200" cy="186059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070877"/>
            <a:ext cx="10363200" cy="254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14400" y="4402535"/>
            <a:ext cx="10363200" cy="11159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"Settings" here means four answers your computer needs before it can talk to anything: who it is, who is nearby, who forwards its traffic outward, and who translates names into addresses.</a:t>
            </a:r>
            <a:endParaRPr lang="en-US" sz="215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 Tell the browser where you want to go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02308"/>
            <a:ext cx="10820400" cy="23496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166264"/>
            <a:ext cx="10820400" cy="1243936"/>
          </a:xfrm>
          <a:prstGeom prst="roundRect">
            <a:avLst>
              <a:gd name="adj" fmla="val 367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4166264"/>
            <a:ext cx="76200" cy="124393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261514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604414"/>
            <a:ext cx="10363200" cy="73758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whole line is a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 web address. It names the rules to use (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 the site to talk to (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www.depaul.edu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 and optionally which page (nothing here, so: the home page).</a:t>
            </a:r>
            <a:endParaRPr lang="en-US" sz="2256" dirty="0"/>
          </a:p>
        </p:txBody>
      </p:sp>
      <p:sp>
        <p:nvSpPr>
          <p:cNvPr id="12" name="Text 9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interprets the address before asking for the page.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 Find an address for the name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83258"/>
            <a:ext cx="10820400" cy="2250491"/>
          </a:xfrm>
          <a:prstGeom prst="roundRect">
            <a:avLst>
              <a:gd name="adj" fmla="val 2032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258"/>
            <a:ext cx="76200" cy="225049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78508"/>
            <a:ext cx="1036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096643"/>
            <a:ext cx="10363200" cy="14027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name-lookup service is called </a:t>
            </a:r>
            <a:pPr algn="l" indent="0" marL="0">
              <a:lnSpc>
                <a:spcPct val="136000"/>
              </a:lnSpc>
              <a:buNone/>
            </a:pPr>
            <a:r>
              <a:rPr lang="en-US" sz="2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</a:t>
            </a:r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 Domain Name System: a directory that turns a name people can remember into an address machines can use. Looking up the address is not the same job as downloading the page.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4048049"/>
            <a:ext cx="5219700" cy="1862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computer asks</a:t>
            </a:r>
            <a:endParaRPr lang="en-US" sz="1755" dirty="0"/>
          </a:p>
        </p:txBody>
      </p:sp>
      <p:sp>
        <p:nvSpPr>
          <p:cNvPr id="12" name="Text 10"/>
          <p:cNvSpPr/>
          <p:nvPr/>
        </p:nvSpPr>
        <p:spPr>
          <a:xfrm>
            <a:off x="685800" y="4323493"/>
            <a:ext cx="5219700" cy="155419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human-friendly name is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www.depaul.edu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needs a network destination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or operating system may already know a usable answer</a:t>
            </a:r>
            <a:endParaRPr lang="en-US" sz="1872" dirty="0"/>
          </a:p>
        </p:txBody>
      </p:sp>
      <p:sp>
        <p:nvSpPr>
          <p:cNvPr id="13" name="Text 11"/>
          <p:cNvSpPr/>
          <p:nvPr/>
        </p:nvSpPr>
        <p:spPr>
          <a:xfrm>
            <a:off x="6286500" y="4048049"/>
            <a:ext cx="5219700" cy="1862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lookup service helps</a:t>
            </a:r>
            <a:endParaRPr lang="en-US" sz="1755" dirty="0"/>
          </a:p>
        </p:txBody>
      </p:sp>
      <p:sp>
        <p:nvSpPr>
          <p:cNvPr id="14" name="Text 12"/>
          <p:cNvSpPr/>
          <p:nvPr/>
        </p:nvSpPr>
        <p:spPr>
          <a:xfrm>
            <a:off x="6286500" y="4323493"/>
            <a:ext cx="5219700" cy="155419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needed, it finds an address for the name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may be more than one usable address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can change while the familiar name stays the same</a:t>
            </a:r>
            <a:endParaRPr lang="en-US" sz="187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5. Get from the laptop to the way out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02308"/>
            <a:ext cx="10820400" cy="37459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 remote website, the computer hands outgoing traffic to a local gateway.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6. Networks carry the conversation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26108"/>
            <a:ext cx="10820400" cy="414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visit crosses several networks, not a direct wire.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73986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 of the path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Its job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network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Carry traffic to the way out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Gateway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Cross the network boundary and route replies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Internet routers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Forward toward the destination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Website's network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 traffic to the web service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does the Internet work?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7–8. Start a conversation, then ask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83258"/>
            <a:ext cx="10820400" cy="2250491"/>
          </a:xfrm>
          <a:prstGeom prst="roundRect">
            <a:avLst>
              <a:gd name="adj" fmla="val 2032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258"/>
            <a:ext cx="76200" cy="225049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78508"/>
            <a:ext cx="1036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096643"/>
            <a:ext cx="10363200" cy="14027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Being able to talk to the site and asking for a particular page are different steps. </a:t>
            </a:r>
            <a:pPr algn="l" indent="0" marL="0">
              <a:lnSpc>
                <a:spcPct val="136000"/>
              </a:lnSpc>
              <a:buNone/>
            </a:pPr>
            <a:r>
              <a:rPr lang="en-US" sz="2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</a:t>
            </a:r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means the conversation is scrambled in transit, so people between you and the site can see that you are talking to it, but not what you sent.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4048049"/>
            <a:ext cx="5219700" cy="1862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 ready to talk</a:t>
            </a:r>
            <a:endParaRPr lang="en-US" sz="1755" dirty="0"/>
          </a:p>
        </p:txBody>
      </p:sp>
      <p:sp>
        <p:nvSpPr>
          <p:cNvPr id="12" name="Text 10"/>
          <p:cNvSpPr/>
          <p:nvPr/>
        </p:nvSpPr>
        <p:spPr>
          <a:xfrm>
            <a:off x="685800" y="4323493"/>
            <a:ext cx="5219700" cy="155419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reaches a service for the website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this HTTPS visit, it prepares a private conversation with the intended site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previously established conversation may be reusable</a:t>
            </a:r>
            <a:endParaRPr lang="en-US" sz="1872" dirty="0"/>
          </a:p>
        </p:txBody>
      </p:sp>
      <p:sp>
        <p:nvSpPr>
          <p:cNvPr id="13" name="Text 11"/>
          <p:cNvSpPr/>
          <p:nvPr/>
        </p:nvSpPr>
        <p:spPr>
          <a:xfrm>
            <a:off x="6286500" y="4048049"/>
            <a:ext cx="5219700" cy="2172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72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for the page</a:t>
            </a:r>
            <a:endParaRPr lang="en-US" sz="1872" dirty="0"/>
          </a:p>
        </p:txBody>
      </p:sp>
      <p:sp>
        <p:nvSpPr>
          <p:cNvPr id="14" name="Text 12"/>
          <p:cNvSpPr/>
          <p:nvPr/>
        </p:nvSpPr>
        <p:spPr>
          <a:xfrm>
            <a:off x="6286500" y="4360398"/>
            <a:ext cx="5219700" cy="15103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9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requests the site's home page</a:t>
            </a:r>
            <a:endParaRPr lang="en-US" sz="1997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9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can include context such as a language preference or a previous visit</a:t>
            </a:r>
            <a:endParaRPr lang="en-US" sz="1997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9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service decides how to answer</a:t>
            </a:r>
            <a:endParaRPr lang="en-US" sz="199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9. The website's front door decides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02308"/>
            <a:ext cx="10820400" cy="37459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illustrative website architecture, not a verified diagram of DePaul's current deployment.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10. The application may need information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83258"/>
            <a:ext cx="10820400" cy="1504340"/>
          </a:xfrm>
          <a:prstGeom prst="roundRect">
            <a:avLst>
              <a:gd name="adj" fmla="val 303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258"/>
            <a:ext cx="76200" cy="150434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78508"/>
            <a:ext cx="1036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096643"/>
            <a:ext cx="10363200" cy="7013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normally talks to the web service, not directly to the service's private database.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3301898"/>
            <a:ext cx="5219700" cy="3064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4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ready-made page</a:t>
            </a:r>
            <a:endParaRPr lang="en-US" sz="2204" dirty="0"/>
          </a:p>
        </p:txBody>
      </p:sp>
      <p:sp>
        <p:nvSpPr>
          <p:cNvPr id="12" name="Text 10"/>
          <p:cNvSpPr/>
          <p:nvPr/>
        </p:nvSpPr>
        <p:spPr>
          <a:xfrm>
            <a:off x="685800" y="3720339"/>
            <a:ext cx="5219700" cy="21307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may already exist as a file</a:t>
            </a:r>
            <a:endParaRPr lang="en-US" sz="235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service can return it without assembling new information</a:t>
            </a:r>
            <a:endParaRPr lang="en-US" sz="235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every visit requires a database query</a:t>
            </a:r>
            <a:endParaRPr lang="en-US" sz="2351" dirty="0"/>
          </a:p>
        </p:txBody>
      </p:sp>
      <p:sp>
        <p:nvSpPr>
          <p:cNvPr id="13" name="Text 11"/>
          <p:cNvSpPr/>
          <p:nvPr/>
        </p:nvSpPr>
        <p:spPr>
          <a:xfrm>
            <a:off x="6286500" y="3301898"/>
            <a:ext cx="5219700" cy="2627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47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page assembled for a request</a:t>
            </a:r>
            <a:endParaRPr lang="en-US" sz="2047" dirty="0"/>
          </a:p>
        </p:txBody>
      </p:sp>
      <p:sp>
        <p:nvSpPr>
          <p:cNvPr id="14" name="Text 12"/>
          <p:cNvSpPr/>
          <p:nvPr/>
        </p:nvSpPr>
        <p:spPr>
          <a:xfrm>
            <a:off x="6286500" y="3668599"/>
            <a:ext cx="5219700" cy="21917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application may read stored content or another service</a:t>
            </a:r>
            <a:endParaRPr lang="en-US" sz="2183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may check what the visitor is allowed to see</a:t>
            </a:r>
            <a:endParaRPr lang="en-US" sz="2183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creates a response for the browser</a:t>
            </a:r>
            <a:endParaRPr lang="en-US" sz="218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11. A response makes the return trip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26108"/>
            <a:ext cx="10820400" cy="414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delivered response is not yet a usable page.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73986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Participant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 job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service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Send content, a new location, or a problem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Return-path networks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Carry the response back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network and computer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 to the right device and application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Browser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Decide what to do with the response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12. Request the other pieces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83258"/>
            <a:ext cx="10820400" cy="2250491"/>
          </a:xfrm>
          <a:prstGeom prst="roundRect">
            <a:avLst>
              <a:gd name="adj" fmla="val 2032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258"/>
            <a:ext cx="76200" cy="225049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78508"/>
            <a:ext cx="1036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096643"/>
            <a:ext cx="10363200" cy="14027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response is not necessarily the whole page. One visit can involve many requests. A </a:t>
            </a:r>
            <a:pPr algn="l" indent="0" marL="0">
              <a:lnSpc>
                <a:spcPct val="136000"/>
              </a:lnSpc>
              <a:buNone/>
            </a:pPr>
            <a:r>
              <a:rPr lang="en-US" sz="2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 copy</a:t>
            </a:r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 cache — is a local copy kept from an earlier visit so the same item does not have to be fetched twice.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4048049"/>
            <a:ext cx="5219700" cy="2604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42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page can ask for more</a:t>
            </a:r>
            <a:endParaRPr lang="en-US" sz="2042" dirty="0"/>
          </a:p>
        </p:txBody>
      </p:sp>
      <p:sp>
        <p:nvSpPr>
          <p:cNvPr id="12" name="Text 10"/>
          <p:cNvSpPr/>
          <p:nvPr/>
        </p:nvSpPr>
        <p:spPr>
          <a:xfrm>
            <a:off x="685800" y="4412208"/>
            <a:ext cx="5219700" cy="1448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Images and fonts</a:t>
            </a:r>
            <a:endParaRPr lang="en-US" sz="217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Appearance rules and application code</a:t>
            </a:r>
            <a:endParaRPr lang="en-US" sz="217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 information needed by the page</a:t>
            </a:r>
            <a:endParaRPr lang="en-US" sz="2178" dirty="0"/>
          </a:p>
        </p:txBody>
      </p:sp>
      <p:sp>
        <p:nvSpPr>
          <p:cNvPr id="13" name="Text 11"/>
          <p:cNvSpPr/>
          <p:nvPr/>
        </p:nvSpPr>
        <p:spPr>
          <a:xfrm>
            <a:off x="6286500" y="4048049"/>
            <a:ext cx="5219700" cy="1862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Earlier jobs can happen again</a:t>
            </a:r>
            <a:endParaRPr lang="en-US" sz="1755" dirty="0"/>
          </a:p>
        </p:txBody>
      </p:sp>
      <p:sp>
        <p:nvSpPr>
          <p:cNvPr id="14" name="Text 12"/>
          <p:cNvSpPr/>
          <p:nvPr/>
        </p:nvSpPr>
        <p:spPr>
          <a:xfrm>
            <a:off x="6286500" y="4323493"/>
            <a:ext cx="5219700" cy="155419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Another resource may be on another service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resources can be reused from saved copies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Several requests can be in progress together</a:t>
            </a:r>
            <a:endParaRPr lang="en-US" sz="187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13. The browser makes the page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02308"/>
            <a:ext cx="10820400" cy="219550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012114"/>
            <a:ext cx="10820400" cy="1398086"/>
          </a:xfrm>
          <a:prstGeom prst="roundRect">
            <a:avLst>
              <a:gd name="adj" fmla="val 327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4012114"/>
            <a:ext cx="76200" cy="139808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107364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450264"/>
            <a:ext cx="10363200" cy="89173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four jobs have names you will use for ten weeks: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structure,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appearance, images are the media, and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behavior. The browser combines them into the page you see.</a:t>
            </a:r>
            <a:endParaRPr lang="en-US" sz="2256" dirty="0"/>
          </a:p>
        </p:txBody>
      </p:sp>
      <p:sp>
        <p:nvSpPr>
          <p:cNvPr id="12" name="Text 9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turns received resources into a page. Work can overlap as resources arrive.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14. Visible is not always ready to use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83258"/>
            <a:ext cx="10820400" cy="1504340"/>
          </a:xfrm>
          <a:prstGeom prst="roundRect">
            <a:avLst>
              <a:gd name="adj" fmla="val 303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258"/>
            <a:ext cx="76200" cy="150434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78508"/>
            <a:ext cx="1036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096643"/>
            <a:ext cx="10363200" cy="7013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destination is a usable experience, not just a successful connection.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3301898"/>
            <a:ext cx="5219700" cy="3064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4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Something is on the screen</a:t>
            </a:r>
            <a:endParaRPr lang="en-US" sz="2204" dirty="0"/>
          </a:p>
        </p:txBody>
      </p:sp>
      <p:sp>
        <p:nvSpPr>
          <p:cNvPr id="12" name="Text 10"/>
          <p:cNvSpPr/>
          <p:nvPr/>
        </p:nvSpPr>
        <p:spPr>
          <a:xfrm>
            <a:off x="685800" y="3720339"/>
            <a:ext cx="5219700" cy="21307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and a logo may already be visible</a:t>
            </a:r>
            <a:endParaRPr lang="en-US" sz="235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work may still be in progress</a:t>
            </a:r>
            <a:endParaRPr lang="en-US" sz="235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Appearance alone does not prove every feature works</a:t>
            </a:r>
            <a:endParaRPr lang="en-US" sz="2351" dirty="0"/>
          </a:p>
        </p:txBody>
      </p:sp>
      <p:sp>
        <p:nvSpPr>
          <p:cNvPr id="13" name="Text 11"/>
          <p:cNvSpPr/>
          <p:nvPr/>
        </p:nvSpPr>
        <p:spPr>
          <a:xfrm>
            <a:off x="6286500" y="330189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visitor can do the job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286500" y="3736238"/>
            <a:ext cx="5219700" cy="1780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Links and controls respond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Needed information is available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action may start another request-and-response cycle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milestones, not one checkbox</a:t>
            </a:r>
            <a:endParaRPr lang="en-US" sz="4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the student observes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establishes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does not establish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Wi-Fi says connected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local connection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 to every Internet destination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Another website opens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 least one usable path and service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DePaul's site is available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DePaul's home page appears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Enough work completed to display it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link and feature is usable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 or Windows: the same jobs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83258"/>
            <a:ext cx="10820400" cy="1504340"/>
          </a:xfrm>
          <a:prstGeom prst="roundRect">
            <a:avLst>
              <a:gd name="adj" fmla="val 303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258"/>
            <a:ext cx="76200" cy="150434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78508"/>
            <a:ext cx="1036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096643"/>
            <a:ext cx="10363200" cy="7013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 examples include Windows PowerShell and macOS Terminal (zsh or bash). Follow your OS, not both.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3301898"/>
            <a:ext cx="5219700" cy="3064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4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stays the same</a:t>
            </a:r>
            <a:endParaRPr lang="en-US" sz="2204" dirty="0"/>
          </a:p>
        </p:txBody>
      </p:sp>
      <p:sp>
        <p:nvSpPr>
          <p:cNvPr id="12" name="Text 10"/>
          <p:cNvSpPr/>
          <p:nvPr/>
        </p:nvSpPr>
        <p:spPr>
          <a:xfrm>
            <a:off x="685800" y="3720339"/>
            <a:ext cx="5219700" cy="21307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and configure a network connection</a:t>
            </a:r>
            <a:endParaRPr lang="en-US" sz="235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and communicate with the site</a:t>
            </a:r>
            <a:endParaRPr lang="en-US" sz="235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 resources, display a page, and respond to the user</a:t>
            </a:r>
            <a:endParaRPr lang="en-US" sz="2351" dirty="0"/>
          </a:p>
        </p:txBody>
      </p:sp>
      <p:sp>
        <p:nvSpPr>
          <p:cNvPr id="13" name="Text 11"/>
          <p:cNvSpPr/>
          <p:nvPr/>
        </p:nvSpPr>
        <p:spPr>
          <a:xfrm>
            <a:off x="6286500" y="3301898"/>
            <a:ext cx="5219700" cy="3064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4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can look different</a:t>
            </a:r>
            <a:endParaRPr lang="en-US" sz="2204" dirty="0"/>
          </a:p>
        </p:txBody>
      </p:sp>
      <p:sp>
        <p:nvSpPr>
          <p:cNvPr id="14" name="Text 12"/>
          <p:cNvSpPr/>
          <p:nvPr/>
        </p:nvSpPr>
        <p:spPr>
          <a:xfrm>
            <a:off x="6286500" y="3720339"/>
            <a:ext cx="5219700" cy="21307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 screens and permission prompts</a:t>
            </a:r>
            <a:endParaRPr lang="en-US" sz="235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commands and diagnostic output</a:t>
            </a:r>
            <a:endParaRPr lang="en-US" sz="235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5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menus and developer tools</a:t>
            </a:r>
            <a:endParaRPr lang="en-US" sz="235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000250"/>
            <a:ext cx="76200" cy="2667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" y="2000250"/>
            <a:ext cx="8953500" cy="2667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3450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'I can visit a website' to 'I can explain and operate what makes a web application work.'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066800" y="4800600"/>
            <a:ext cx="85725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The course destination</a:t>
            </a:r>
            <a:endParaRPr lang="en-US" sz="1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whole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4762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Solo (3 min) → self-check against the model map (4 min) → instructor debrief (3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Tell the story without the tools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5800" y="2750058"/>
            <a:ext cx="10820400" cy="2225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Draw the journey from joining Wi-Fi to using DePaul's home page. Include the computer, local network, Internet, and website.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one job before the page request and one job after the first response arrives.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can "Wi-Fi connected" be true while the page is not usable?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Getting on the network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26108"/>
            <a:ext cx="108204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 machine acquires an identity, finds its neighbours, and reaches everything else — and why none of it is visible from your source code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588514"/>
            <a:ext cx="10820400" cy="12435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A mapped the whole visit. Now we zoom into its first stages: joining and using the local network. Before your application communicates, the computer needs an identity, a local map, a way out, and help finding names.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reachable from here, invisible from there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Maya's laptop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715006"/>
            <a:ext cx="5219700" cy="2225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DHCP assigns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10.24.18.73/20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gateway is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10.24.16.1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DNS is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10.20.0.53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 answers at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localhost:8080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Luis's laptop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715006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10.24.18.73:8080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gets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refused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listener table reveals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127.0.0.1:8080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not the Wi-Fi address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bind setting, not the React code, decides who can connect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1144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6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questions, answered before your code exists</a:t>
            </a:r>
            <a:endParaRPr lang="en-US" sz="4062" dirty="0"/>
          </a:p>
        </p:txBody>
      </p:sp>
      <p:sp>
        <p:nvSpPr>
          <p:cNvPr id="7" name="Text 5"/>
          <p:cNvSpPr/>
          <p:nvPr/>
        </p:nvSpPr>
        <p:spPr>
          <a:xfrm>
            <a:off x="685800" y="2136379"/>
            <a:ext cx="10820400" cy="16558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21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am I?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2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an address this machine is allowed to use</a:t>
            </a:r>
            <a:endParaRPr lang="en-US" sz="232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21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is nearby?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2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which addresses it can reach without help</a:t>
            </a:r>
            <a:endParaRPr lang="en-US" sz="232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21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 I get out?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2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where to send everything else</a:t>
            </a:r>
            <a:endParaRPr lang="en-US" sz="232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21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answers names?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2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which server turns text into an address</a:t>
            </a:r>
            <a:endParaRPr lang="en-US" sz="2321" dirty="0"/>
          </a:p>
        </p:txBody>
      </p:sp>
      <p:sp>
        <p:nvSpPr>
          <p:cNvPr id="8" name="Shape 6"/>
          <p:cNvSpPr/>
          <p:nvPr/>
        </p:nvSpPr>
        <p:spPr>
          <a:xfrm>
            <a:off x="685800" y="3921161"/>
            <a:ext cx="10820400" cy="1913161"/>
          </a:xfrm>
          <a:prstGeom prst="roundRect">
            <a:avLst>
              <a:gd name="adj" fmla="val 239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921161"/>
            <a:ext cx="76200" cy="191316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16411"/>
            <a:ext cx="10363200" cy="257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351149"/>
            <a:ext cx="10363200" cy="11304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8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application answers none of these. It inherits all four answers, from a</a:t>
            </a:r>
            <a:endParaRPr lang="en-US" sz="2182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18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it never authenticated to, over a protocol it never chose.</a:t>
            </a:r>
            <a:endParaRPr lang="en-US" sz="2182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words about joining a local network</a:t>
            </a:r>
            <a:endParaRPr lang="en-US" sz="4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Plain meaning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DHCP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protocol a network uses to hand a newly joined device its address and settings.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Lease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time-limited grant of that address. It expires, is renewed, and can change.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MAC address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hardware address burned into a network adapter. Used only within one local network.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ARP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"who has this address?" question a device shouts locally to find a neighbour's MAC address.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3731133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731133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826383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169283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DHCP gives a new device its starting information. ARP then helps it find another device on the same local network.</a:t>
            </a:r>
            <a:endParaRPr lang="en-US" sz="2256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words about choosing the next hop</a:t>
            </a:r>
            <a:endParaRPr lang="en-US" sz="4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Plain meaning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Subnet mask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rule that says which addresses count as local neighbours and which do not.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CIDR (/20)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shorthand for that same rule: how many leading bits of the address identify the network.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On-link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destination you can reach directly, without asking the gateway to forward it.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Gateway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device you hand traffic to when the destination is not on-link.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3731133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731133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826383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169283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mechanism in the next fifteen minutes is one of these eight words in action. You are not expected to know them yet.</a:t>
            </a:r>
            <a:endParaRPr lang="en-US" sz="2256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3503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33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your machine will tell you</a:t>
            </a:r>
            <a:endParaRPr lang="en-US" sz="3733" dirty="0"/>
          </a:p>
        </p:txBody>
      </p:sp>
      <p:sp>
        <p:nvSpPr>
          <p:cNvPr id="7" name="Shape 5"/>
          <p:cNvSpPr/>
          <p:nvPr/>
        </p:nvSpPr>
        <p:spPr>
          <a:xfrm>
            <a:off x="685800" y="1451041"/>
            <a:ext cx="10820400" cy="2470117"/>
          </a:xfrm>
          <a:prstGeom prst="roundRect">
            <a:avLst>
              <a:gd name="adj" fmla="val 222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51041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47009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ipconfig /all - captured and sanitized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00621"/>
            <a:ext cx="10439400" cy="1894807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Physical Address. . . . . : 00-0D-3A-XX-XX-XX     # layer 2 identity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DHCP Enabled. . . . . . . : Yes                   # &lt;- negotiated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IPv4 Address. . . . . . . : 10.0.20.252           # 1. who am I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Subnet Mask . . . . . . . : 255.255.128.0         # 2. who is nearby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Default Gateway . . . . . : 10.0.0.1              # 3. how do I get out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DHCP Server . . . . . . . : 168.63.129.16         # who told me all this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DNS Servers . . . . . . . : 10.0.254.4            # 4. who answers names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056628"/>
            <a:ext cx="10820400" cy="1522901"/>
          </a:xfrm>
          <a:prstGeom prst="roundRect">
            <a:avLst>
              <a:gd name="adj" fmla="val 3002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056628"/>
            <a:ext cx="76200" cy="152290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51878"/>
            <a:ext cx="10363200" cy="237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467268"/>
            <a:ext cx="10363200" cy="103047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0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Gateway, DHCP server, resolver: </a:t>
            </a:r>
            <a:pPr algn="l" indent="0" marL="0">
              <a:lnSpc>
                <a:spcPct val="136000"/>
              </a:lnSpc>
              <a:buNone/>
            </a:pPr>
            <a:r>
              <a:rPr lang="en-US" sz="200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different jobs</a:t>
            </a:r>
            <a:pPr algn="l" indent="0" marL="0">
              <a:lnSpc>
                <a:spcPct val="136000"/>
              </a:lnSpc>
              <a:buNone/>
            </a:pPr>
            <a:r>
              <a:rPr lang="en-US" sz="200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 home router may do</a:t>
            </a:r>
            <a:endParaRPr lang="en-US" sz="2005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00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three, but they need not share an address.</a:t>
            </a:r>
            <a:endParaRPr lang="en-US" sz="2005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annotated capture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168.63.129.16 is</a:t>
            </a:r>
            <a:endParaRPr lang="en-US" sz="12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Windows: inspect the active connection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392174"/>
          </a:xfrm>
          <a:prstGeom prst="roundRect">
            <a:avLst>
              <a:gd name="adj" fmla="val 394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any directory; read-only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81686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ipconfig /all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Get-NetIPConfiguration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170682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70682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65932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608832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the active adapter's address, prefix or mask, gateway, and DNS servers. Do not copy the sample's addresses.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Get-NetIPConfiguration</a:t>
            </a:r>
            <a:endParaRPr lang="en-US" sz="12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569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93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find the interface and address</a:t>
            </a:r>
            <a:endParaRPr lang="en-US" sz="4093" dirty="0"/>
          </a:p>
        </p:txBody>
      </p:sp>
      <p:sp>
        <p:nvSpPr>
          <p:cNvPr id="7" name="Shape 5"/>
          <p:cNvSpPr/>
          <p:nvPr/>
        </p:nvSpPr>
        <p:spPr>
          <a:xfrm>
            <a:off x="685800" y="1582696"/>
            <a:ext cx="10820400" cy="2573954"/>
          </a:xfrm>
          <a:prstGeom prst="roundRect">
            <a:avLst>
              <a:gd name="adj" fmla="val 213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82696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0174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any directory; read-only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32276"/>
            <a:ext cx="10439400" cy="199864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networksetup -listallhardwareports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'Device for active Wi-Fi/Ethernet (from list): 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-r iface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ipconfig getifaddr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$iface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ipconfig getpacket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$iface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ifconfig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$iface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305159"/>
            <a:ext cx="10820400" cy="1528031"/>
          </a:xfrm>
          <a:prstGeom prst="roundRect">
            <a:avLst>
              <a:gd name="adj" fmla="val 2992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305159"/>
            <a:ext cx="76200" cy="152803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00409"/>
            <a:ext cx="10363200" cy="259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736987"/>
            <a:ext cx="10363200" cy="7594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9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assume Wi-Fi is en0. Match the hardware port to its Device entry.</a:t>
            </a:r>
            <a:endParaRPr lang="en-US" sz="2198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lease fields: the same questions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26108"/>
            <a:ext cx="108204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fields describe the last IPv4 DHCP response, not every current policy.</a:t>
            </a:r>
            <a:endParaRPr lang="en-US" sz="2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588514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Field in getpacket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question as the Windows capture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yiaddr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Which IPv4 address was supplied?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subnet_mask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Which destinations are local?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router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Which gateway was supplied?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domain_name_server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Which name servers were supplied?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find the gateway and resolvers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392174"/>
          </a:xfrm>
          <a:prstGeom prst="roundRect">
            <a:avLst>
              <a:gd name="adj" fmla="val 394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any directory; read-only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81686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 -n get default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scutil --dns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170682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70682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65932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608832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gateway and interface in the route; read nameserver and scope in the resolver configuration.</a:t>
            </a:r>
            <a:endParaRPr lang="en-US" sz="2256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the address arrives: DISCOVER, OFFER, REQUEST, ACK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299716"/>
            <a:ext cx="10820400" cy="28818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2959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DHCP DORA — four messages, two of them broadcast, before the machine has an address to be addressed by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2131 §3.1, DHCP client-server interaction</a:t>
            </a:r>
            <a:endParaRPr lang="en-US" sz="12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526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68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lease is not just an address</a:t>
            </a:r>
            <a:endParaRPr lang="en-US" sz="3688" dirty="0"/>
          </a:p>
        </p:txBody>
      </p:sp>
      <p:sp>
        <p:nvSpPr>
          <p:cNvPr id="7" name="Text 5"/>
          <p:cNvSpPr/>
          <p:nvPr/>
        </p:nvSpPr>
        <p:spPr>
          <a:xfrm>
            <a:off x="685800" y="1467472"/>
            <a:ext cx="10820400" cy="236048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 + mask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identity, and the definition of "nearby"</a:t>
            </a:r>
            <a:endParaRPr lang="en-US" sz="21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gateway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way out</a:t>
            </a:r>
            <a:endParaRPr lang="en-US" sz="21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 servers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who resolves names, which is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decision made for you</a:t>
            </a:r>
            <a:endParaRPr lang="en-US" sz="21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Lease duration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this is a rental, and it expires</a:t>
            </a:r>
            <a:endParaRPr lang="en-US" sz="21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NTP, domain, search suffix, routes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options nobody reads until one breaks</a:t>
            </a:r>
            <a:endParaRPr lang="en-US" sz="2108" dirty="0"/>
          </a:p>
        </p:txBody>
      </p:sp>
      <p:sp>
        <p:nvSpPr>
          <p:cNvPr id="8" name="Shape 6"/>
          <p:cNvSpPr/>
          <p:nvPr/>
        </p:nvSpPr>
        <p:spPr>
          <a:xfrm>
            <a:off x="685800" y="3945063"/>
            <a:ext cx="10820400" cy="1902803"/>
          </a:xfrm>
          <a:prstGeom prst="roundRect">
            <a:avLst>
              <a:gd name="adj" fmla="val 2403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945063"/>
            <a:ext cx="76200" cy="1902803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40313"/>
            <a:ext cx="10363200" cy="234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353043"/>
            <a:ext cx="10363200" cy="13687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8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lease that never expires is not normal. On the capture above it ran to the year</a:t>
            </a:r>
            <a:endParaRPr lang="en-US" sz="1981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98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2162 — a platform artifact of a cloud VM. A home router hands out 12 or 24 hours.</a:t>
            </a:r>
            <a:endParaRPr lang="en-US" sz="198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ARP: the frame needs a different address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117598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packet is addressed to 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10.0.19.7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The </a:t>
            </a:r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needs a MAC.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080004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the host broadcasts </a:t>
            </a:r>
            <a:pPr algn="l" indent="0" marL="0">
              <a:lnSpc>
                <a:spcPct val="136000"/>
              </a:lnSpc>
              <a:buNone/>
            </a:pPr>
            <a:r>
              <a:rPr lang="en-US" sz="240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"who has 10.0.19.7?"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caches the reply.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865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reality on a cloud network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286500" y="2117598"/>
            <a:ext cx="5219700" cy="16581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arp -a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10.0.0.1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10.0.0.63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10.0.1.52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10.0.7.77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</a:t>
            </a:r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four</a:t>
            </a: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to the same MAC.</a:t>
            </a: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shared wire; the fabric answers for everything.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286500" y="3909060"/>
            <a:ext cx="5219700" cy="1629156"/>
          </a:xfrm>
          <a:prstGeom prst="roundRect">
            <a:avLst>
              <a:gd name="adj" fmla="val 2806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3909060"/>
            <a:ext cx="76200" cy="1629156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5100" y="4004310"/>
            <a:ext cx="47625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515100" y="4347210"/>
            <a:ext cx="47625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IPv6 replaces ARP with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NDP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Same job.</a:t>
            </a:r>
            <a:endParaRPr lang="en-US" sz="2256" dirty="0"/>
          </a:p>
        </p:txBody>
      </p:sp>
      <p:sp>
        <p:nvSpPr>
          <p:cNvPr id="16" name="Shape 14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826, Address Resolution Protocol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4861, Neighbor Discovery</a:t>
            </a:r>
            <a:endParaRPr lang="en-US" sz="127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addresses can exist in public</a:t>
            </a:r>
            <a:endParaRPr lang="en-US" sz="4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CIDR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it works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will meet it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10.0.0.0/8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private only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 VNets, campus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172.16.0.0/12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private only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Docker, WSL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192.168.0.0/16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private only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 routers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127.0.0.0/8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this machine only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whole problem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169.254.0.0/16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link-local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DHCP failed; cloud metadata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fe80::/10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link-local IPv6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IPv6 interface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1918, private address allocation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3927, IPv4 link-local</a:t>
            </a:r>
            <a:endParaRPr lang="en-US" sz="127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353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37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CIDR: how many bits are the network?</a:t>
            </a:r>
            <a:endParaRPr lang="en-US" sz="3737" dirty="0"/>
          </a:p>
        </p:txBody>
      </p:sp>
      <p:sp>
        <p:nvSpPr>
          <p:cNvPr id="7" name="Shape 5"/>
          <p:cNvSpPr/>
          <p:nvPr/>
        </p:nvSpPr>
        <p:spPr>
          <a:xfrm>
            <a:off x="685800" y="1451465"/>
            <a:ext cx="10820400" cy="2735309"/>
          </a:xfrm>
          <a:prstGeom prst="roundRect">
            <a:avLst>
              <a:gd name="adj" fmla="val 200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51465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470515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255.255.128.0 is /17 — worked from the real capture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TEXT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01045"/>
            <a:ext cx="10439400" cy="2159999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255.255.128.0 = 11111111 11111111 1000 0000 00000000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|--- 17 network ---|---- 15 host ----|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2^15 = 32,768 addresses    10.0.0.0 -&gt; 10.0.127.255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10.0.19.7   in the /17     -&gt; on-link, ARP for it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10.0.200.4  NOT in the /17 -&gt; hand it to the gateway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8.8.8.8     nowhere near   -&gt; hand it to the gateway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322380"/>
            <a:ext cx="10820400" cy="1523713"/>
          </a:xfrm>
          <a:prstGeom prst="roundRect">
            <a:avLst>
              <a:gd name="adj" fmla="val 3001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322380"/>
            <a:ext cx="76200" cy="152371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17630"/>
            <a:ext cx="10363200" cy="237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733242"/>
            <a:ext cx="10363200" cy="10311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0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mask is the </a:t>
            </a:r>
            <a:pPr algn="l" indent="0" marL="0">
              <a:lnSpc>
                <a:spcPct val="136000"/>
              </a:lnSpc>
              <a:buNone/>
            </a:pPr>
            <a:r>
              <a:rPr lang="en-US" sz="200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if-statement</a:t>
            </a:r>
            <a:pPr algn="l" indent="0" marL="0">
              <a:lnSpc>
                <a:spcPct val="136000"/>
              </a:lnSpc>
              <a:buNone/>
            </a:pPr>
            <a:r>
              <a:rPr lang="en-US" sz="200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your machine runs on every outbound packet:
</a:t>
            </a:r>
            <a:pPr algn="l" indent="0" marL="0">
              <a:lnSpc>
                <a:spcPct val="136000"/>
              </a:lnSpc>
              <a:buNone/>
            </a:pPr>
            <a:r>
              <a:rPr lang="en-US" sz="2007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on-link, or hand it to the gateway?</a:t>
            </a:r>
            <a:endParaRPr lang="en-US" sz="2007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route table is that if-statement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3664458"/>
          </a:xfrm>
          <a:prstGeom prst="roundRect">
            <a:avLst>
              <a:gd name="adj" fmla="val 1497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route print -4 - trimmed; most specific prefix wins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30891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          Gateway        Meaning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0.0.0.0/0            10.0.0.1       default route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10.0.0.0/17          On-link        local campus subnet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127.0.0.0/8          On-link        loopback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169.254.169.254/32   10.0.0.1       one pinned host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 10.0.19.7  -&gt; /17 -&gt; ARP for it directly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 8.8.8.8    -&gt; /0  -&gt; frame to gateway; IP stays 8.8.8.8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 127.0.0.1  -&gt; /8  -&gt; never leaves the kernel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annotated route table</a:t>
            </a:r>
            <a:endParaRPr lang="en-US" sz="127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Windows: routes and nearby addresses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any directory; inspection only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 print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arp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Get-NetNeighbor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-AddressFamily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IPv6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495294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495294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90544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933444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 choose the next hop. Neighbor entries map nearby network addresses to link addresses.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Get-NetNeighbor</a:t>
            </a:r>
            <a:endParaRPr lang="en-US" sz="127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routes and nearby addresses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041398"/>
          </a:xfrm>
          <a:prstGeom prst="roundRect">
            <a:avLst>
              <a:gd name="adj" fmla="val 268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any directory; inspection only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4660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netstat -rn -f inet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 -n get default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arp -a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ndp -an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19906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19906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15156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258056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Destination, Gateway, and Netif; use ARP for IPv4 neighbors and NDP for IPv6.</a:t>
            </a:r>
            <a:endParaRPr lang="en-US" sz="2256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words about reaching the Internet</a:t>
            </a:r>
            <a:endParaRPr lang="en-US" sz="42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Plain meaning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Private address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 address usable only inside one network. Many networks reuse the same private ranges.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 address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globally unique address that the rest of the Internet can route to.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Rewriting private addresses into one shared public address on the way out, and back on the way in.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number that says which program on a machine a message is for.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3731133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731133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826383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169283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home or campus network can use private addresses inside, then use NAT to share one public address when it talks to the Internet.</a:t>
            </a:r>
            <a:endParaRPr lang="en-US" sz="2256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words about a program's connection</a:t>
            </a:r>
            <a:endParaRPr lang="en-US" sz="4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Plain meaning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Socket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end of a conversation: an address plus a port.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Listening socket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program waiting for connections on a port.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Connected socket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 established conversation between two specific address-and-port pairs.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Bind address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address a program agrees to accept connections on. 127.0.0.1 means "this machine only".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3731133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731133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826383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169283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(also called 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or loopback) never leaves your machine. 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means "accept on every address I have".</a:t>
            </a:r>
            <a:endParaRPr lang="en-US" sz="2256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NAT: the address you have is not the address you are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299716"/>
            <a:ext cx="10820400" cy="31485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public address, many private machines, and a translation table only you can open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same request, from both ends</a:t>
            </a:r>
            <a:endParaRPr lang="en-US" sz="42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this host believes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server received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10.0.20.252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203.0.113.181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49302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55346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2988183"/>
            <a:ext cx="10820400" cy="2043684"/>
          </a:xfrm>
          <a:prstGeom prst="roundRect">
            <a:avLst>
              <a:gd name="adj" fmla="val 2237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2988183"/>
            <a:ext cx="76200" cy="2043684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083433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3426333"/>
            <a:ext cx="10363200" cy="116896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port were rewritten in flight — and a second run seconds later left</a:t>
            </a:r>
            <a:endParaRPr lang="en-US" sz="2256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</a:t>
            </a:r>
            <a:endParaRPr lang="en-US" sz="2256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203.0.113.183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The egress is a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pool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not a box.</a:t>
            </a:r>
            <a:endParaRPr lang="en-US" sz="2256" dirty="0"/>
          </a:p>
        </p:txBody>
      </p:sp>
      <p:sp>
        <p:nvSpPr>
          <p:cNvPr id="12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full NAT capture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3022, Traditional NAT and NAPT</a:t>
            </a:r>
            <a:endParaRPr lang="en-US" sz="127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8227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2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Ports and sockets: two tuples, and the difference matters</a:t>
            </a:r>
            <a:endParaRPr lang="en-US" sz="3420" dirty="0"/>
          </a:p>
        </p:txBody>
      </p:sp>
      <p:sp>
        <p:nvSpPr>
          <p:cNvPr id="7" name="Text 5"/>
          <p:cNvSpPr/>
          <p:nvPr/>
        </p:nvSpPr>
        <p:spPr>
          <a:xfrm>
            <a:off x="685800" y="1830253"/>
            <a:ext cx="10820400" cy="245157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listening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socket is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(address, port)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two values, e.g.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0.0.0.0:8471</a:t>
            </a:r>
            <a:endParaRPr lang="en-US" sz="195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connected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socket is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(local addr, local port, remote addr, remote port)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four</a:t>
            </a:r>
            <a:endParaRPr lang="en-US" sz="195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four-tuple is why one server port serves thousands of clients unambiguously</a:t>
            </a:r>
            <a:endParaRPr lang="en-US" sz="195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client never chose its port; the kernel took one from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ephemeral range</a:t>
            </a:r>
            <a:endParaRPr lang="en-US" sz="195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TIME_WAIT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5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that four-tuple being held after close, not a leak</a:t>
            </a:r>
            <a:endParaRPr lang="en-US" sz="1954" dirty="0"/>
          </a:p>
        </p:txBody>
      </p:sp>
      <p:sp>
        <p:nvSpPr>
          <p:cNvPr id="8" name="Shape 6"/>
          <p:cNvSpPr/>
          <p:nvPr/>
        </p:nvSpPr>
        <p:spPr>
          <a:xfrm>
            <a:off x="685800" y="4390401"/>
            <a:ext cx="10820400" cy="1467212"/>
          </a:xfrm>
          <a:prstGeom prst="roundRect">
            <a:avLst>
              <a:gd name="adj" fmla="val 311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90401"/>
            <a:ext cx="76200" cy="1467212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85651"/>
            <a:ext cx="10363200" cy="2171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782542"/>
            <a:ext cx="10363200" cy="95179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3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socket is an </a:t>
            </a:r>
            <a:pPr algn="l" indent="0" marL="0">
              <a:lnSpc>
                <a:spcPct val="136000"/>
              </a:lnSpc>
              <a:buNone/>
            </a:pPr>
            <a:r>
              <a:rPr lang="en-US" sz="183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 and a port</a:t>
            </a:r>
            <a:pPr algn="l" indent="0" marL="0">
              <a:lnSpc>
                <a:spcPct val="136000"/>
              </a:lnSpc>
              <a:buNone/>
            </a:pPr>
            <a:r>
              <a:rPr lang="en-US" sz="183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If you got the address wrong, the port was</a:t>
            </a:r>
            <a:endParaRPr lang="en-US" sz="1837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3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the problem.</a:t>
            </a:r>
            <a:endParaRPr lang="en-US" sz="1837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listener, many conversations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3664458"/>
          </a:xfrm>
          <a:prstGeom prst="roundRect">
            <a:avLst>
              <a:gd name="adj" fmla="val 1497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netstat -ano, captured during a live request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30891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Proto  Local Address          Foreign Address        State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TCP    0.0.0.0:8471           0.0.0.0:0              LISTENING   25224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TCP    10.0.20.252:62681      10.0.20.252:8471       TIME_WAIT   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TCP    10.0.20.252:62684      10.0.20.252:8471       TIME_WAIT   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TCP    127.0.0.1:62630        127.0.0.1:8471         TIME_WAIT   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row 1   TWO values:  (0.0.0.0, 8471)         &lt;- the listener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rows 2+ FOUR values: (local, 62681, remote, 8471)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server side identical; the CLIENT ports differ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socket capture</a:t>
            </a:r>
            <a:endParaRPr lang="en-US" sz="127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machine, one port, two answers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3339846"/>
          </a:xfrm>
          <a:prstGeom prst="roundRect">
            <a:avLst>
              <a:gd name="adj" fmla="val 164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bind address changes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276453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 to 127.0.0.1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  127.0.0.1:8471  LISTENING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127.0.0.1:8471    -&gt; campuspulse ok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10.0.20.252:8471  -&gt; Connection refused (same box)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rebound to 0.0.0.0 — no code changed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  0.0.0.0:8471    LISTENING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127.0.0.1:8471    -&gt; campuspulse ok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10.0.20.252:8471  -&gt; campuspulse ok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full transcript</a:t>
            </a:r>
            <a:endParaRPr lang="en-US" sz="127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5137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Break it live, in ninety seconds</a:t>
            </a:r>
            <a:endParaRPr lang="en-US" sz="3612" dirty="0"/>
          </a:p>
        </p:txBody>
      </p:sp>
      <p:sp>
        <p:nvSpPr>
          <p:cNvPr id="9" name="Shape 7"/>
          <p:cNvSpPr/>
          <p:nvPr/>
        </p:nvSpPr>
        <p:spPr>
          <a:xfrm>
            <a:off x="685800" y="2094921"/>
            <a:ext cx="5238750" cy="3620079"/>
          </a:xfrm>
          <a:prstGeom prst="roundRect">
            <a:avLst>
              <a:gd name="adj" fmla="val 1263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209221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2552121"/>
            <a:ext cx="4781550" cy="28658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 and B at the repo root; choose your OS steps; Node 18+</a:t>
            </a:r>
            <a:endParaRPr lang="en-US" sz="22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the loopback-only server and the two requests on the next slides</a:t>
            </a:r>
            <a:endParaRPr lang="en-US" sz="22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it, bind all interfaces, and repeat without changing the URL</a:t>
            </a:r>
            <a:endParaRPr lang="en-US" sz="2208" dirty="0"/>
          </a:p>
        </p:txBody>
      </p:sp>
      <p:sp>
        <p:nvSpPr>
          <p:cNvPr id="12" name="Shape 10"/>
          <p:cNvSpPr/>
          <p:nvPr/>
        </p:nvSpPr>
        <p:spPr>
          <a:xfrm>
            <a:off x="6267450" y="2094921"/>
            <a:ext cx="5238750" cy="2027244"/>
          </a:xfrm>
          <a:prstGeom prst="roundRect">
            <a:avLst>
              <a:gd name="adj" fmla="val 2255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209221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2552121"/>
            <a:ext cx="4781550" cy="81881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Loopback: JSON; LAN request fails</a:t>
            </a:r>
            <a:endParaRPr lang="en-US" sz="22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Wildcard: JSON on both if allowed</a:t>
            </a:r>
            <a:endParaRPr lang="en-US" sz="2208" dirty="0"/>
          </a:p>
        </p:txBody>
      </p:sp>
      <p:sp>
        <p:nvSpPr>
          <p:cNvPr id="15" name="Shape 13"/>
          <p:cNvSpPr/>
          <p:nvPr/>
        </p:nvSpPr>
        <p:spPr>
          <a:xfrm>
            <a:off x="6267450" y="4312665"/>
            <a:ext cx="5238750" cy="1402335"/>
          </a:xfrm>
          <a:prstGeom prst="roundRect">
            <a:avLst>
              <a:gd name="adj" fmla="val 3260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426965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4769865"/>
            <a:ext cx="4781550" cy="70815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socket capture on the cleanup slide.</a:t>
            </a:r>
            <a:endParaRPr lang="en-US" sz="2208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stub server</a:t>
            </a:r>
            <a:endParaRPr lang="en-US" sz="127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 A: bind only to loopback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392174"/>
          </a:xfrm>
          <a:prstGeom prst="roundRect">
            <a:avLst>
              <a:gd name="adj" fmla="val 394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repository root; keep Terminal A running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81686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--version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.\weeks\week01\samples\campuspulse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-stub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8471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170682"/>
            <a:ext cx="10820400" cy="1214628"/>
          </a:xfrm>
          <a:prstGeom prst="roundRect">
            <a:avLst>
              <a:gd name="adj" fmla="val 3764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70682"/>
            <a:ext cx="76200" cy="1214628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65932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608832"/>
            <a:ext cx="10363200" cy="389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Expect: campuspulse listening on 127.0.0.1:8471.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stub arguments and response fields</a:t>
            </a:r>
            <a:endParaRPr lang="en-US" sz="127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A: bind only to loopback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392174"/>
          </a:xfrm>
          <a:prstGeom prst="roundRect">
            <a:avLst>
              <a:gd name="adj" fmla="val 394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repository root; Node 18+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81686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--version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./weeks/week01/samples/campuspulse-stub.mjs 127.0.0.1 8471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170682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70682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65932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608832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"campuspulse listening on 127.0.0.1:8471". Keep this terminal running.</a:t>
            </a:r>
            <a:endParaRPr lang="en-US" sz="2256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 B: ask two different addresses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3015234"/>
          </a:xfrm>
          <a:prstGeom prst="roundRect">
            <a:avLst>
              <a:gd name="adj" fmla="val 182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Terminal B; choose YOUR active LAN IPv4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243992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ipconfig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$lan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Read-Host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'Active LAN IPv4, not 127.0.0.1'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Get-NetTCPConnection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-State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Listen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-LocalPort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8471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Select-Object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LocalAddress, LocalPort, OwningProcess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http://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8471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/healthz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{lan}:8471/healthz"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$LASTEXITCODE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— </a:t>
            </a:r>
            <a:pPr indent="0" marL="0">
              <a:buNone/>
            </a:pP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Get-NetTCPConnection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socket evidence</a:t>
            </a:r>
            <a:endParaRPr lang="en-US" sz="127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B: ask two different addresses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3664458"/>
          </a:xfrm>
          <a:prstGeom prst="roundRect">
            <a:avLst>
              <a:gd name="adj" fmla="val 1497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Terminal B; active LAN IPv4 required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308914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networksetup -listallhardwareports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'Active LAN Device from list: 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-r iface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lan=$(ipconfig getifaddr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$iface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'LAN IPv4: %s\n'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$lan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If blank, stop here and use the offline comparison.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lsof -nP -iTCP:8471 -sTCP:LISTEN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--noproxy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-sS --max-time 3 http://127.0.0.1:8471/healthz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--noproxy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-sS --max-time 3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${lan}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:8471/healthz"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'exit=%s\n'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"$?"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046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2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 A: change just the listener</a:t>
            </a:r>
            <a:endParaRPr lang="en-US" sz="3926" dirty="0"/>
          </a:p>
        </p:txBody>
      </p:sp>
      <p:sp>
        <p:nvSpPr>
          <p:cNvPr id="7" name="Shape 5"/>
          <p:cNvSpPr/>
          <p:nvPr/>
        </p:nvSpPr>
        <p:spPr>
          <a:xfrm>
            <a:off x="685800" y="1525838"/>
            <a:ext cx="10820400" cy="964713"/>
          </a:xfrm>
          <a:prstGeom prst="roundRect">
            <a:avLst>
              <a:gd name="adj" fmla="val 5687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2583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4488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after Ctrl+C in A; repository root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75418"/>
            <a:ext cx="10439400" cy="389403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.\weeks\week01\samples\campuspulse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-stub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8471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2633000"/>
            <a:ext cx="10820400" cy="1398552"/>
          </a:xfrm>
          <a:prstGeom prst="roundRect">
            <a:avLst>
              <a:gd name="adj" fmla="val 3269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633000"/>
            <a:ext cx="76200" cy="1398552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28250"/>
            <a:ext cx="10363200" cy="249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054978"/>
            <a:ext cx="10363200" cy="7284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0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repeat the socket query and both curl requests from the previous slide, unchanged.</a:t>
            </a:r>
            <a:endParaRPr lang="en-US" sz="2109" dirty="0"/>
          </a:p>
        </p:txBody>
      </p:sp>
      <p:sp>
        <p:nvSpPr>
          <p:cNvPr id="15" name="Shape 13"/>
          <p:cNvSpPr/>
          <p:nvPr/>
        </p:nvSpPr>
        <p:spPr>
          <a:xfrm>
            <a:off x="685800" y="4174000"/>
            <a:ext cx="10820400" cy="1398552"/>
          </a:xfrm>
          <a:prstGeom prst="roundRect">
            <a:avLst>
              <a:gd name="adj" fmla="val 3269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174000"/>
            <a:ext cx="76200" cy="1398552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69250"/>
            <a:ext cx="10363200" cy="249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4595978"/>
            <a:ext cx="10363200" cy="7284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0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 trusted lab network. This exposes the synthetic stub on every IPv4 interface.</a:t>
            </a:r>
            <a:endParaRPr lang="en-US" sz="2109" dirty="0"/>
          </a:p>
        </p:txBody>
      </p:sp>
      <p:sp>
        <p:nvSpPr>
          <p:cNvPr id="19" name="Shape 17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stub server</a:t>
            </a:r>
            <a:endParaRPr lang="en-US" sz="127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3999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33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A: change just the listener</a:t>
            </a:r>
            <a:endParaRPr lang="en-US" sz="4033" dirty="0"/>
          </a:p>
        </p:txBody>
      </p:sp>
      <p:sp>
        <p:nvSpPr>
          <p:cNvPr id="7" name="Shape 5"/>
          <p:cNvSpPr/>
          <p:nvPr/>
        </p:nvSpPr>
        <p:spPr>
          <a:xfrm>
            <a:off x="685800" y="1564159"/>
            <a:ext cx="10820400" cy="1004844"/>
          </a:xfrm>
          <a:prstGeom prst="roundRect">
            <a:avLst>
              <a:gd name="adj" fmla="val 546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64159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83209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after Ctrl+C in A; repository root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13739"/>
            <a:ext cx="10439400" cy="42953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./weeks/week01/samples/campuspulse-stub.mjs 0.0.0.0 8471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2715355"/>
            <a:ext cx="10820400" cy="1486821"/>
          </a:xfrm>
          <a:prstGeom prst="roundRect">
            <a:avLst>
              <a:gd name="adj" fmla="val 3075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715355"/>
            <a:ext cx="76200" cy="1486821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10605"/>
            <a:ext cx="10363200" cy="256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143677"/>
            <a:ext cx="10363200" cy="74838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B, repeat </a:t>
            </a:r>
            <a:pPr algn="l" indent="0" marL="0">
              <a:lnSpc>
                <a:spcPct val="136000"/>
              </a:lnSpc>
              <a:buNone/>
            </a:pPr>
            <a:r>
              <a:rPr lang="en-US" sz="216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lsof</a:t>
            </a:r>
            <a:pPr algn="l" indent="0" marL="0">
              <a:lnSpc>
                <a:spcPct val="136000"/>
              </a:lnSpc>
              <a:buNone/>
            </a:pPr>
            <a:r>
              <a:rPr lang="en-US" sz="21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both </a:t>
            </a:r>
            <a:pPr algn="l" indent="0" marL="0">
              <a:lnSpc>
                <a:spcPct val="136000"/>
              </a:lnSpc>
              <a:buNone/>
            </a:pPr>
            <a:r>
              <a:rPr lang="en-US" sz="216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</a:t>
            </a:r>
            <a:pPr algn="l" indent="0" marL="0">
              <a:lnSpc>
                <a:spcPct val="136000"/>
              </a:lnSpc>
              <a:buNone/>
            </a:pPr>
            <a:r>
              <a:rPr lang="en-US" sz="21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requests. Expect a wildcard listener and, if policy permits, two JSON replies.</a:t>
            </a:r>
            <a:endParaRPr lang="en-US" sz="2166" dirty="0"/>
          </a:p>
        </p:txBody>
      </p:sp>
      <p:sp>
        <p:nvSpPr>
          <p:cNvPr id="15" name="Shape 13"/>
          <p:cNvSpPr/>
          <p:nvPr/>
        </p:nvSpPr>
        <p:spPr>
          <a:xfrm>
            <a:off x="685800" y="4348527"/>
            <a:ext cx="10820400" cy="1486821"/>
          </a:xfrm>
          <a:prstGeom prst="roundRect">
            <a:avLst>
              <a:gd name="adj" fmla="val 3075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348527"/>
            <a:ext cx="76200" cy="1486821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443777"/>
            <a:ext cx="10363200" cy="256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4776849"/>
            <a:ext cx="10363200" cy="74838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 trusted lab network. The synthetic stub now listens on every IPv4 interface.</a:t>
            </a:r>
            <a:endParaRPr lang="en-US" sz="2166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changed for Maya and Luis?</a:t>
            </a:r>
            <a:endParaRPr lang="en-US" sz="42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Observation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Mechanism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Safe conclusion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boundTo changes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listener accepts more destination addresses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bind configuration changed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servedOn differs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Each request chose an interface address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process, two local paths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peer port differs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Each client connection gets a source port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request is not just a URL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Luis still cannot connect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Another boundary may block ingress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 policy before changing code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response fields</a:t>
            </a:r>
            <a:endParaRPr lang="en-US" sz="127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Windows: stop the stub, keep the evidence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067562"/>
          </a:xfrm>
          <a:prstGeom prst="roundRect">
            <a:avLst>
              <a:gd name="adj" fmla="val 513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Terminal B; repository root; offline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4922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.\weeks\week01\samples\sockets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-and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-ports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2846070"/>
            <a:ext cx="10820400" cy="1214628"/>
          </a:xfrm>
          <a:prstGeom prst="roundRect">
            <a:avLst>
              <a:gd name="adj" fmla="val 3764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846070"/>
            <a:ext cx="76200" cy="1214628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41320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284220"/>
            <a:ext cx="10363200" cy="389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 Ctrl+C in Terminal A to stop the all-interface listener.</a:t>
            </a:r>
            <a:endParaRPr lang="en-US" sz="2256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stop the stub, keep the evidence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067562"/>
          </a:xfrm>
          <a:prstGeom prst="roundRect">
            <a:avLst>
              <a:gd name="adj" fmla="val 513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Terminal B; repository root; offline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4922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./weeks/week01/samples/sockets-and-ports.txt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2846070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846070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41320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284220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Ctrl+C in Terminal A stops the server. The saved Windows/Linux output is reference evidence, not today's Mac output.</a:t>
            </a:r>
            <a:endParaRPr lang="en-US" sz="2256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206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56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"it works on localhost" means nothing</a:t>
            </a:r>
            <a:endParaRPr lang="en-US" sz="3562" dirty="0"/>
          </a:p>
        </p:txBody>
      </p:sp>
      <p:sp>
        <p:nvSpPr>
          <p:cNvPr id="7" name="Text 5"/>
          <p:cNvSpPr/>
          <p:nvPr/>
        </p:nvSpPr>
        <p:spPr>
          <a:xfrm>
            <a:off x="685800" y="1432001"/>
            <a:ext cx="10820400" cy="282021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3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127.0.0.0/8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3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matched in the route table and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3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handed back to the kernel</a:t>
            </a:r>
            <a:endParaRPr lang="en-US" sz="203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3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does not cross the physical LAN, its router, or its NAT</a:t>
            </a:r>
            <a:endParaRPr lang="en-US" sz="203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3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successful loopback request tests the app and a local path, not remote ingress</a:t>
            </a:r>
            <a:endParaRPr lang="en-US" sz="203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3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private address needs an explicit external path; NAPT may also rewrite its port</a:t>
            </a:r>
            <a:endParaRPr lang="en-US" sz="203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3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one of those is a thing a reviewer, a friend testing your app, and your users are on the other side of</a:t>
            </a:r>
            <a:endParaRPr lang="en-US" sz="2035" dirty="0"/>
          </a:p>
        </p:txBody>
      </p:sp>
      <p:sp>
        <p:nvSpPr>
          <p:cNvPr id="8" name="Shape 6"/>
          <p:cNvSpPr/>
          <p:nvPr/>
        </p:nvSpPr>
        <p:spPr>
          <a:xfrm>
            <a:off x="685800" y="4365300"/>
            <a:ext cx="10820400" cy="1487160"/>
          </a:xfrm>
          <a:prstGeom prst="roundRect">
            <a:avLst>
              <a:gd name="adj" fmla="val 3074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65300"/>
            <a:ext cx="76200" cy="1487160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60550"/>
            <a:ext cx="10363200" cy="226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765814"/>
            <a:ext cx="10363200" cy="99131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1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"It works on my machine" is not a lie. It is a true statement about a code path</a:t>
            </a:r>
            <a:endParaRPr lang="en-US" sz="1913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91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shares almost nothing with the one your users take.</a:t>
            </a:r>
            <a:endParaRPr lang="en-US" sz="1913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the network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4762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Solo (4 min) → cold call (3 min) → debrief (3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74739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service works for Priya, but not for Dev. Three artifacts. Diagnose it.</a:t>
            </a:r>
            <a:endParaRPr lang="en-US" sz="3528" dirty="0"/>
          </a:p>
        </p:txBody>
      </p:sp>
      <p:sp>
        <p:nvSpPr>
          <p:cNvPr id="10" name="Shape 8"/>
          <p:cNvSpPr/>
          <p:nvPr/>
        </p:nvSpPr>
        <p:spPr>
          <a:xfrm>
            <a:off x="685800" y="2881764"/>
            <a:ext cx="10820400" cy="2074590"/>
          </a:xfrm>
          <a:prstGeom prst="roundRect">
            <a:avLst>
              <a:gd name="adj" fmla="val 2645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6300" y="3091314"/>
            <a:ext cx="10439400" cy="173931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  Priya runs:  netstat -ano | findstr :8080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TCP    127.0.0.1:8080    0.0.0.0:0    LISTENING    9134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B)  Dev runs:    curl --max-time 5 http://192.168.1.47:8080/healthz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curl: (7) Failed to connect ... Connection refused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C)  Dev runs:    curl --max-time 5 http://192.168.1.47:3000/  -&gt;  200 OK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685800" y="5084378"/>
            <a:ext cx="10820400" cy="51860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</a:t>
            </a:r>
            <a:pPr algn="l" indent="0" marL="0">
              <a:lnSpc>
                <a:spcPct val="136000"/>
              </a:lnSpc>
              <a:buNone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What is the cause? </a:t>
            </a:r>
            <a:pPr algn="l" indent="0" marL="0">
              <a:lnSpc>
                <a:spcPct val="136000"/>
              </a:lnSpc>
              <a:buNone/>
            </a:pP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</a:t>
            </a:r>
            <a:pPr algn="l" indent="0" marL="0">
              <a:lnSpc>
                <a:spcPct val="136000"/>
              </a:lnSpc>
              <a:buNone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Which artifact rules out a completely broken path?
</a:t>
            </a:r>
            <a:pPr algn="l" indent="0" marL="0">
              <a:lnSpc>
                <a:spcPct val="136000"/>
              </a:lnSpc>
              <a:buNone/>
            </a:pP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</a:t>
            </a:r>
            <a:pPr algn="l" indent="0" marL="0">
              <a:lnSpc>
                <a:spcPct val="136000"/>
              </a:lnSpc>
              <a:buNone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Priya says "let's just use port 80." What happens?</a:t>
            </a:r>
            <a:endParaRPr lang="en-US" sz="2016" dirty="0"/>
          </a:p>
        </p:txBody>
      </p:sp>
      <p:sp>
        <p:nvSpPr>
          <p:cNvPr id="13" name="Shape 11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supplied failure prompt and artifacts</a:t>
            </a:r>
            <a:endParaRPr lang="en-US" sz="127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Transport and the URL chain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26108"/>
            <a:ext cx="108204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TCP, UDP, and QUIC — then every link between pressing Enter and seeing a pixel, which is the map the rest of this course is drawn 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588514"/>
            <a:ext cx="10820400" cy="12435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B got you an address. This block is about what happens after you have one — and then about the twelve steps between pressing Enter and seeing a pixel, which is the map for the next nine weeks.</a:t>
            </a:r>
            <a:endParaRPr lang="en-US" sz="2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the spinner does not tell you which link failed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Maya sees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715006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 taps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outage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the train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spinner runs for two seconds, then the page says "Try again"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 first diagnosis: "the server is down"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evidence says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715006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ms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TCP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ms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TLS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 ms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returns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JSON in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140 ms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console shows a JavaScript exception after the bytes arrive</a:t>
            </a:r>
            <a:endParaRPr 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words about starting a connection</a:t>
            </a:r>
            <a:endParaRPr lang="en-US" sz="42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Plain meaning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Protocol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 agreed set of rules two machines follow so each one understands the other.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TCP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protocol that gives you an ordered, reliable stream of bytes between two programs.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Handshake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short exchange that sets up a connection before any useful data is sent.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Round trip (RTT)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time for a message to reach the other side and its reply to come back.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3731133"/>
            <a:ext cx="10820400" cy="2043684"/>
          </a:xfrm>
          <a:prstGeom prst="roundRect">
            <a:avLst>
              <a:gd name="adj" fmla="val 2237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731133"/>
            <a:ext cx="76200" cy="2043684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826383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169283"/>
            <a:ext cx="10363200" cy="116896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a browser can ask for a page, its connection follows a protocol and usually completes a handshake. RTT measures the wait for one exchange.</a:t>
            </a:r>
            <a:endParaRPr lang="en-US" sz="2256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words about keeping a connection safe</a:t>
            </a:r>
            <a:endParaRPr lang="en-US" sz="42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Plain meaning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Sequence number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counter on each byte, so the receiver can reorder and detect what is missing.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Retransmission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Sending data again because it was not acknowledged in time.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TLS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layer that encrypts an HTTPS conversation and proves you reached the real site.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Reset (RST)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 abrupt "stop, this connection is over" from the other end.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3731133"/>
            <a:ext cx="10820400" cy="2043684"/>
          </a:xfrm>
          <a:prstGeom prst="roundRect">
            <a:avLst>
              <a:gd name="adj" fmla="val 2237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731133"/>
            <a:ext cx="76200" cy="2043684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826383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169283"/>
            <a:ext cx="10363200" cy="116896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uses sequence numbers and retransmissions to keep data reliable. TLS makes that data private. A reset ends the conversation abruptly.</a:t>
            </a:r>
            <a:endParaRPr lang="en-US" sz="2256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TCP: nobody speaks until both sides have agreed to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299716"/>
            <a:ext cx="10820400" cy="28818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2959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packets and one round trip before either side may send a single useful byte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9293, Transmission Control Protocol</a:t>
            </a:r>
            <a:endParaRPr lang="en-US" sz="127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2070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5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TCP gives you, and what it charges</a:t>
            </a:r>
            <a:endParaRPr lang="en-US" sz="3454" dirty="0"/>
          </a:p>
        </p:txBody>
      </p:sp>
      <p:sp>
        <p:nvSpPr>
          <p:cNvPr id="7" name="Text 5"/>
          <p:cNvSpPr/>
          <p:nvPr/>
        </p:nvSpPr>
        <p:spPr>
          <a:xfrm>
            <a:off x="685800" y="1429113"/>
            <a:ext cx="10820400" cy="282044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Ordering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segments carry sequence numbers, so the receiver reassembles the stream</a:t>
            </a:r>
            <a:endParaRPr lang="en-US" sz="197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Retransmission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an unacknowledged segment is sent again, with exponential backoff</a:t>
            </a:r>
            <a:endParaRPr lang="en-US" sz="197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 control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receiver advertises a window, so a fast sender cannot drown a slow one</a:t>
            </a:r>
            <a:endParaRPr lang="en-US" sz="197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Congestion control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sender backs off when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bottleneck</a:t>
            </a:r>
            <a:endParaRPr lang="en-US" sz="197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bill: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one round trip of setup, per-connection state on both ends, and head-of-line blocking</a:t>
            </a:r>
            <a:endParaRPr lang="en-US" sz="1974" dirty="0"/>
          </a:p>
        </p:txBody>
      </p:sp>
      <p:sp>
        <p:nvSpPr>
          <p:cNvPr id="8" name="Shape 6"/>
          <p:cNvSpPr/>
          <p:nvPr/>
        </p:nvSpPr>
        <p:spPr>
          <a:xfrm>
            <a:off x="685800" y="4359236"/>
            <a:ext cx="10820400" cy="1497122"/>
          </a:xfrm>
          <a:prstGeom prst="roundRect">
            <a:avLst>
              <a:gd name="adj" fmla="val 3054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59236"/>
            <a:ext cx="76200" cy="1497122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54486"/>
            <a:ext cx="10363200" cy="2193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753417"/>
            <a:ext cx="10363200" cy="9614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5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turns an unreliable packet network into a reliable byte stream. Everything on</a:t>
            </a:r>
            <a:endParaRPr lang="en-US" sz="1855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5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list is the price of that sentence.</a:t>
            </a:r>
            <a:endParaRPr lang="en-US" sz="185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Sequencing and retransmission: how silence is handled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299716"/>
            <a:ext cx="10820400" cy="31485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lost segment is detected by a gap, not by an error — and the retry interval doubles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Ending a connection: politely, or not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 — the orderly close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117598"/>
            <a:ext cx="5219700" cy="16581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packets. Either side may stop sending and keep </a:t>
            </a:r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receiving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 the close</a:t>
            </a: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half-duplex first.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909060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TIME_WAIT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then holds the four-tuple for 2 × MSL.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86500" y="1683258"/>
            <a:ext cx="5219700" cy="25378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27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RST — the abort</a:t>
            </a:r>
            <a:endParaRPr lang="en-US" sz="2027" dirty="0"/>
          </a:p>
        </p:txBody>
      </p:sp>
      <p:sp>
        <p:nvSpPr>
          <p:cNvPr id="11" name="Text 9"/>
          <p:cNvSpPr/>
          <p:nvPr/>
        </p:nvSpPr>
        <p:spPr>
          <a:xfrm>
            <a:off x="6286500" y="2039997"/>
            <a:ext cx="5219700" cy="6574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6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packet. No agreement, unread data discarded.</a:t>
            </a:r>
            <a:endParaRPr lang="en-US" sz="2162" dirty="0"/>
          </a:p>
        </p:txBody>
      </p:sp>
      <p:sp>
        <p:nvSpPr>
          <p:cNvPr id="12" name="Text 10"/>
          <p:cNvSpPr/>
          <p:nvPr/>
        </p:nvSpPr>
        <p:spPr>
          <a:xfrm>
            <a:off x="6286500" y="2817539"/>
            <a:ext cx="5219700" cy="6574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6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FIN is an agreement. A RST is a decision.</a:t>
            </a:r>
            <a:endParaRPr lang="en-US" sz="2162" dirty="0"/>
          </a:p>
        </p:txBody>
      </p:sp>
      <p:sp>
        <p:nvSpPr>
          <p:cNvPr id="13" name="Shape 11"/>
          <p:cNvSpPr/>
          <p:nvPr/>
        </p:nvSpPr>
        <p:spPr>
          <a:xfrm>
            <a:off x="6286500" y="3595082"/>
            <a:ext cx="5219700" cy="1982652"/>
          </a:xfrm>
          <a:prstGeom prst="roundRect">
            <a:avLst>
              <a:gd name="adj" fmla="val 2306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86500" y="3595082"/>
            <a:ext cx="76200" cy="1982652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5100" y="3690332"/>
            <a:ext cx="4762500" cy="240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515100" y="4008639"/>
            <a:ext cx="4762500" cy="14038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</a:t>
            </a:r>
            <a:pPr algn="l" indent="0" marL="0">
              <a:lnSpc>
                <a:spcPct val="136000"/>
              </a:lnSpc>
              <a:buNone/>
            </a:pPr>
            <a:r>
              <a:rPr lang="en-US" sz="20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TIME_WAIT</a:t>
            </a:r>
            <a:pPr algn="l" indent="0" marL="0">
              <a:lnSpc>
                <a:spcPct val="136000"/>
              </a:lnSpc>
              <a:buNone/>
            </a:pPr>
            <a:r>
              <a:rPr lang="en-US" sz="20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sockets are normal; exhaustion needs evidence of failed new connections.</a:t>
            </a:r>
            <a:endParaRPr lang="en-US" sz="2032" dirty="0"/>
          </a:p>
        </p:txBody>
      </p:sp>
      <p:sp>
        <p:nvSpPr>
          <p:cNvPr id="17" name="Shape 1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9293 §3.6, closing a connection</a:t>
            </a:r>
            <a:endParaRPr lang="en-US" sz="1275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88118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2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symptoms: read the failure, not just the code</a:t>
            </a:r>
            <a:endParaRPr lang="en-US" sz="3722" dirty="0"/>
          </a:p>
        </p:txBody>
      </p:sp>
      <p:sp>
        <p:nvSpPr>
          <p:cNvPr id="7" name="Shape 5"/>
          <p:cNvSpPr/>
          <p:nvPr/>
        </p:nvSpPr>
        <p:spPr>
          <a:xfrm>
            <a:off x="685800" y="1896868"/>
            <a:ext cx="10820400" cy="1698989"/>
          </a:xfrm>
          <a:prstGeom prst="roundRect">
            <a:avLst>
              <a:gd name="adj" fmla="val 322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9686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91591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tool, four different layers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346448"/>
            <a:ext cx="10439400" cy="1123679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127.0.0.1:9        -&gt; (7) refused: RST, host answered no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192.0.2.1          -&gt; (28) timeout: silence, no answer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127.0.0.1:8472     -&gt; (56) reset: request sent, then abort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example.com:443    -&gt; (52) empty reply: orderly FIN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730905"/>
            <a:ext cx="10820400" cy="1849048"/>
          </a:xfrm>
          <a:prstGeom prst="roundRect">
            <a:avLst>
              <a:gd name="adj" fmla="val 247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730905"/>
            <a:ext cx="76200" cy="1849048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26155"/>
            <a:ext cx="10363200" cy="2363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140857"/>
            <a:ext cx="10363200" cy="13569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plain words: </a:t>
            </a:r>
            <a:pPr algn="l" indent="0" marL="0">
              <a:lnSpc>
                <a:spcPct val="136000"/>
              </a:lnSpc>
              <a:buNone/>
            </a:pPr>
            <a:r>
              <a:rPr lang="en-US" sz="19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refused</a:t>
            </a:r>
            <a:pPr algn="l" indent="0" marL="0">
              <a:lnSpc>
                <a:spcPct val="136000"/>
              </a:lnSpc>
              <a:buNone/>
            </a:pPr>
            <a:r>
              <a:rPr lang="en-US" sz="19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means something answered and said no. </a:t>
            </a:r>
            <a:pPr algn="l" indent="0" marL="0">
              <a:lnSpc>
                <a:spcPct val="136000"/>
              </a:lnSpc>
              <a:buNone/>
            </a:pPr>
            <a:r>
              <a:rPr lang="en-US" sz="19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Timeout</a:t>
            </a:r>
            <a:pPr algn="l" indent="0" marL="0">
              <a:lnSpc>
                <a:spcPct val="136000"/>
              </a:lnSpc>
              <a:buNone/>
            </a:pPr>
            <a:r>
              <a:rPr lang="en-US" sz="19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means nothing answered at all. </a:t>
            </a:r>
            <a:pPr algn="l" indent="0" marL="0">
              <a:lnSpc>
                <a:spcPct val="136000"/>
              </a:lnSpc>
              <a:buNone/>
            </a:pPr>
            <a:r>
              <a:rPr lang="en-US" sz="19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Reset</a:t>
            </a:r>
            <a:pPr algn="l" indent="0" marL="0">
              <a:lnSpc>
                <a:spcPct val="136000"/>
              </a:lnSpc>
              <a:buNone/>
            </a:pPr>
            <a:r>
              <a:rPr lang="en-US" sz="19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means a conversation had started and was cut off. </a:t>
            </a:r>
            <a:pPr algn="l" indent="0" marL="0">
              <a:lnSpc>
                <a:spcPct val="136000"/>
              </a:lnSpc>
              <a:buNone/>
            </a:pPr>
            <a:r>
              <a:rPr lang="en-US" sz="19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Empty reply</a:t>
            </a:r>
            <a:pPr algn="l" indent="0" marL="0">
              <a:lnSpc>
                <a:spcPct val="136000"/>
              </a:lnSpc>
              <a:buNone/>
            </a:pPr>
            <a:r>
              <a:rPr lang="en-US" sz="19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means the connection closed politely without sending an answer.</a:t>
            </a:r>
            <a:endParaRPr lang="en-US" sz="1999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full transcripts and a decision table</a:t>
            </a:r>
            <a:endParaRPr lang="en-US" sz="127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A: reproduce a local reset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067562"/>
          </a:xfrm>
          <a:prstGeom prst="roundRect">
            <a:avLst>
              <a:gd name="adj" fmla="val 513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repository root; Node 18+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4922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./weeks/week01/samples/abort-server.mjs 8472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2846070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846070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41320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284220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loopback-only fixture accepts a connection, reads request bytes, then resets it. Keep A running.</a:t>
            </a:r>
            <a:endParaRPr lang="en-US" sz="2256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Reproduce a local reset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067562"/>
          </a:xfrm>
          <a:prstGeom prst="roundRect">
            <a:avLst>
              <a:gd name="adj" fmla="val 513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Terminal A; repository root; Node 18+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4922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.\weeks\week01\samples\abort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-server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8472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local reset fixture</a:t>
            </a:r>
            <a:endParaRPr lang="en-US" sz="1275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B: find the last completed phase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same machine as Terminal A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--noproxy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-v --max-time 5 http://127.0.0.1:8472/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'exit=%s\n'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"$?"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Ctrl+C in A; repeat these two commands to compare.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495294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495294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90544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933444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A runs: connected, request sent, then a receive failure. After stopping A: connection fails earlier.</a:t>
            </a:r>
            <a:endParaRPr lang="en-US" sz="2256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B: locate the last successful phase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223516"/>
            <a:ext cx="108204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23516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24256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same machine as Terminal A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673096"/>
            <a:ext cx="104394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http://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8472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$LASTEXITCODE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Now Ctrl+C in Terminal A; repeat both lines to compare.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curl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codes and verbose diagnostics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reset fixture</a:t>
            </a:r>
            <a:endParaRPr lang="en-US" sz="1275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spinner; a different next action</a:t>
            </a:r>
            <a:endParaRPr lang="en-US" sz="42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Last evidence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happened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 diagnostic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Connected line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connection did not establish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Inspect listener, destination, route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Connected, then outgoing GET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server accepted the connection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Inspect reset/crash/proxy evidence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 HTTP status and headers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 carried an HTTP response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 status, body, and app logs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timeout after connecting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later phase took too long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Locate the stalled phase; do not blame DNS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failure decision table</a:t>
            </a:r>
            <a:endParaRPr lang="en-US" sz="1275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the same offline comparison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067562"/>
          </a:xfrm>
          <a:prstGeom prst="roundRect">
            <a:avLst>
              <a:gd name="adj" fmla="val 513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repository root; offline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4922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./weeks/week01/samples/refused-vs-timeout.txt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2846070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846070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41320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284220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Ctrl+C in A stops the fixture. The archived output explains the phases; Mac error wording may differ.</a:t>
            </a:r>
            <a:endParaRPr lang="en-US" sz="2256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Fallback and cleanup: no firewall experiment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223516"/>
            <a:ext cx="10820400" cy="1067562"/>
          </a:xfrm>
          <a:prstGeom prst="roundRect">
            <a:avLst>
              <a:gd name="adj" fmla="val 513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23516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24256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repository root; archived evidence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673096"/>
            <a:ext cx="10439400" cy="49225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.\weeks\week01\samples\refused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-vs-timeout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443478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443478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38728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881628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Terminal A with Ctrl+C. Do not create a DROP rule to force a timeout.</a:t>
            </a:r>
            <a:endParaRPr lang="en-US" sz="2256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UDP: no handshake, no memory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83258"/>
            <a:ext cx="10820400" cy="2250491"/>
          </a:xfrm>
          <a:prstGeom prst="roundRect">
            <a:avLst>
              <a:gd name="adj" fmla="val 2032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258"/>
            <a:ext cx="76200" cy="225049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78508"/>
            <a:ext cx="103632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096643"/>
            <a:ext cx="10363200" cy="14027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UDP</a:t>
            </a:r>
            <a:pPr algn="l" indent="0" marL="0">
              <a:lnSpc>
                <a:spcPct val="136000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sends single messages, called datagrams, with no setup and no memory of what came before. It is not "broken TCP" — it is TCP with every guarantee removed, so the application can choose which ones it actually wants.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4048049"/>
            <a:ext cx="5219700" cy="18532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it does not do</a:t>
            </a:r>
            <a:endParaRPr lang="en-US" sz="1755" dirty="0"/>
          </a:p>
        </p:txBody>
      </p:sp>
      <p:sp>
        <p:nvSpPr>
          <p:cNvPr id="12" name="Text 10"/>
          <p:cNvSpPr/>
          <p:nvPr/>
        </p:nvSpPr>
        <p:spPr>
          <a:xfrm>
            <a:off x="685800" y="4322529"/>
            <a:ext cx="5219700" cy="12884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connection, so no setup round trip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ordering, no retransmission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flow or congestion control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8-byte header, versus TCP's 20</a:t>
            </a:r>
            <a:endParaRPr lang="en-US" sz="1872" dirty="0"/>
          </a:p>
        </p:txBody>
      </p:sp>
      <p:sp>
        <p:nvSpPr>
          <p:cNvPr id="13" name="Text 11"/>
          <p:cNvSpPr/>
          <p:nvPr/>
        </p:nvSpPr>
        <p:spPr>
          <a:xfrm>
            <a:off x="6286500" y="4048049"/>
            <a:ext cx="5219700" cy="1714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that is the right trade</a:t>
            </a:r>
            <a:endParaRPr lang="en-US" sz="1755" dirty="0"/>
          </a:p>
        </p:txBody>
      </p:sp>
      <p:sp>
        <p:nvSpPr>
          <p:cNvPr id="14" name="Text 12"/>
          <p:cNvSpPr/>
          <p:nvPr/>
        </p:nvSpPr>
        <p:spPr>
          <a:xfrm>
            <a:off x="6286500" y="4308653"/>
            <a:ext cx="5219700" cy="1316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29 bytes; a retry beats a handshake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DHCP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you have no address yet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and video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late is worse than lost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rebuilds reliability on top</a:t>
            </a:r>
            <a:endParaRPr lang="en-US" sz="1872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768, User Datagram Protocol</a:t>
            </a:r>
            <a:endParaRPr lang="en-US" sz="1275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988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6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QUIC: the handshake, rebuilt on UDP</a:t>
            </a:r>
            <a:endParaRPr lang="en-US" sz="3369" dirty="0"/>
          </a:p>
        </p:txBody>
      </p:sp>
      <p:sp>
        <p:nvSpPr>
          <p:cNvPr id="7" name="Text 5"/>
          <p:cNvSpPr/>
          <p:nvPr/>
        </p:nvSpPr>
        <p:spPr>
          <a:xfrm>
            <a:off x="685800" y="1404945"/>
            <a:ext cx="10820400" cy="23768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over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UDP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rebuilds ordering, retransmission, and congestion control above it</a:t>
            </a:r>
            <a:endParaRPr lang="en-US" sz="192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Merges the transport and TLS handshakes —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RTT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a new server;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RTT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resumed</a:t>
            </a:r>
            <a:endParaRPr lang="en-US" sz="192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are independent, so one lost packet no longer stalls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others</a:t>
            </a:r>
            <a:endParaRPr lang="en-US" sz="192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connection ID lets a connection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survive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network change, when both ends support it</a:t>
            </a:r>
            <a:endParaRPr lang="en-US" sz="192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HTTP/3 is HTTP over QUIC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2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it is already a large share of real traffic</a:t>
            </a:r>
            <a:endParaRPr lang="en-US" sz="1925" dirty="0"/>
          </a:p>
        </p:txBody>
      </p:sp>
      <p:sp>
        <p:nvSpPr>
          <p:cNvPr id="8" name="Shape 6"/>
          <p:cNvSpPr/>
          <p:nvPr/>
        </p:nvSpPr>
        <p:spPr>
          <a:xfrm>
            <a:off x="685800" y="3888787"/>
            <a:ext cx="10820400" cy="1703965"/>
          </a:xfrm>
          <a:prstGeom prst="roundRect">
            <a:avLst>
              <a:gd name="adj" fmla="val 268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88787"/>
            <a:ext cx="76200" cy="1703965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84037"/>
            <a:ext cx="10363200" cy="2139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277940"/>
            <a:ext cx="10363200" cy="12224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</a:t>
            </a:r>
            <a:pPr algn="l" indent="0" marL="0">
              <a:lnSpc>
                <a:spcPct val="136000"/>
              </a:lnSpc>
              <a:buNone/>
            </a:pPr>
            <a:r>
              <a:rPr lang="en-US" sz="18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 newer transport that does TCP's job and TLS's job at the same time, carried inside UDP. </a:t>
            </a:r>
            <a:pPr algn="l" indent="0" marL="0">
              <a:lnSpc>
                <a:spcPct val="136000"/>
              </a:lnSpc>
              <a:buNone/>
            </a:pPr>
            <a:r>
              <a:rPr lang="en-US" sz="18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RTT</a:t>
            </a:r>
            <a:pPr algn="l" indent="0" marL="0">
              <a:lnSpc>
                <a:spcPct val="136000"/>
              </a:lnSpc>
              <a:buNone/>
            </a:pPr>
            <a:r>
              <a:rPr lang="en-US" sz="18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 round trip; "1 RTT" means one there-and-back before real data flows. </a:t>
            </a:r>
            <a:pPr algn="l" indent="0" marL="0">
              <a:lnSpc>
                <a:spcPct val="136000"/>
              </a:lnSpc>
              <a:buNone/>
            </a:pPr>
            <a:r>
              <a:rPr lang="en-US" sz="18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HTTP/3</a:t>
            </a:r>
            <a:pPr algn="l" indent="0" marL="0">
              <a:lnSpc>
                <a:spcPct val="136000"/>
              </a:lnSpc>
              <a:buNone/>
            </a:pPr>
            <a:r>
              <a:rPr lang="en-US" sz="18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simply HTTP delivered over QUIC.</a:t>
            </a:r>
            <a:endParaRPr lang="en-US" sz="1810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9000, QUIC transport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9114, HTTP/3</a:t>
            </a:r>
            <a:endParaRPr lang="en-US" sz="1275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spine of this course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URL to pixel</a:t>
            </a:r>
            <a:endParaRPr lang="en-US" sz="4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chain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02308"/>
            <a:ext cx="10820400" cy="219550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4012114"/>
            <a:ext cx="10820400" cy="1398086"/>
          </a:xfrm>
          <a:prstGeom prst="roundRect">
            <a:avLst>
              <a:gd name="adj" fmla="val 327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4012114"/>
            <a:ext cx="76200" cy="139808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107364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4450264"/>
            <a:ext cx="10363200" cy="89173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of these names are new: an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edge/CDN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 server placed near the user that can answer with a stored copy; the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origin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machine that actually owns the content; </a:t>
            </a:r>
            <a:pPr algn="l" indent="0" marL="0">
              <a:lnSpc>
                <a:spcPct val="136000"/>
              </a:lnSpc>
              <a:buNone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browser turning HTML and CSS into pixels on screen.</a:t>
            </a:r>
            <a:endParaRPr lang="en-US" sz="2256" dirty="0"/>
          </a:p>
        </p:txBody>
      </p:sp>
      <p:sp>
        <p:nvSpPr>
          <p:cNvPr id="12" name="Text 9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Twelve links. Every remaining week of this course attaches to one of them.</a:t>
            </a:r>
            <a:endParaRPr lang="en-US" sz="1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2999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8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first six links, timed</a:t>
            </a:r>
            <a:endParaRPr lang="en-US" sz="3389" dirty="0"/>
          </a:p>
        </p:txBody>
      </p:sp>
      <p:sp>
        <p:nvSpPr>
          <p:cNvPr id="7" name="Shape 5"/>
          <p:cNvSpPr/>
          <p:nvPr/>
        </p:nvSpPr>
        <p:spPr>
          <a:xfrm>
            <a:off x="685800" y="1336623"/>
            <a:ext cx="10820400" cy="2953172"/>
          </a:xfrm>
          <a:prstGeom prst="roundRect">
            <a:avLst>
              <a:gd name="adj" fmla="val 185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36623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355673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Archived Windows curl run - cumulative seconds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786203"/>
            <a:ext cx="10439400" cy="2377862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-sS -o NUL -w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"dns=%{time_namelookup} tcp=%{time_connect}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tls=%{time_appconnect} ttfb=%{time_starttransfer}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total=%{time_total}\n" https://www.depaul.edu/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dns=0.010978  tcp=0.013690  tls=0.246471  ttfb=0.622437  total=0.647152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link 3   DNS              11 ms    cached; a cold lookup is 20-120 ms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link 4   TCP handshake   + 3 ms    one round trip, close by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link 5   TLS handshake + 233 ms    the most expensive thing here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links 6-8  request, edge, origin, first byte      + 376 ms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the remaining 238 KB of body                      +  25 ms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412760"/>
            <a:ext cx="10820400" cy="1179274"/>
          </a:xfrm>
          <a:prstGeom prst="roundRect">
            <a:avLst>
              <a:gd name="adj" fmla="val 3877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412760"/>
            <a:ext cx="76200" cy="1179274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08010"/>
            <a:ext cx="10363200" cy="215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803080"/>
            <a:ext cx="10363200" cy="6971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numbers localise a slow page to a link — no profiler, no dashboard, and it</a:t>
            </a:r>
            <a:endParaRPr lang="en-US" sz="182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anywhere </a:t>
            </a:r>
            <a:endParaRPr lang="en-US" sz="182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</a:t>
            </a:r>
            <a:pPr algn="l" indent="0" marL="0">
              <a:lnSpc>
                <a:spcPct val="136000"/>
              </a:lnSpc>
              <a:buNone/>
            </a:pPr>
            <a:r>
              <a:rPr lang="en-US" sz="18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runs.</a:t>
            </a:r>
            <a:endParaRPr lang="en-US" sz="1820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curl manual — </a:t>
            </a:r>
            <a:pPr indent="0" marL="0">
              <a:buNone/>
            </a:pP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--write-out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variables</a:t>
            </a:r>
            <a:endParaRPr lang="en-US" sz="1275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Windows: measure those same phases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041398"/>
          </a:xfrm>
          <a:prstGeom prst="roundRect">
            <a:avLst>
              <a:gd name="adj" fmla="val 268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any directory; internet required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4660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$fmt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'dns=%{time_namelookup} tcp=%{time_connect} 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$fmt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+=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'tls=%{time_appconnect} ttfb=%{time_starttransfer} 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$fmt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+=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'total=%{time_total}\n'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NUL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-w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$fmt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https://www.depaul.edu/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19906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19906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15156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258056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are cumulative seconds, not five independent durations. Your values need not match the archived capture.</a:t>
            </a:r>
            <a:endParaRPr lang="en-US" sz="2256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measure those same phases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041398"/>
          </a:xfrm>
          <a:prstGeom prst="roundRect">
            <a:avLst>
              <a:gd name="adj" fmla="val 268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any directory; internet required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4660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'dns=%{time_namelookup} tcp=%{time_connect} 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${fmt}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tls=%{time_appconnect} ttfb=%{time_starttransfer} 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${fmt}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total=%{time_total}\n"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-sS -o /dev/null --max-time 15 -w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$fmt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https://www.depaul.edu/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19906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19906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15156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258056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fields and interpretation; /dev/null replaces Windows NUL. Keep the format variable quoted.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curl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write-out variables</a:t>
            </a:r>
            <a:endParaRPr lang="en-US" sz="1275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filters, four links, four artifacts</a:t>
            </a:r>
            <a:endParaRPr lang="en-US" sz="420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Link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Wireshark display filter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you should find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· DNS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dns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query, one response, 2 answers, a TTL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· TCP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tcp.flags.syn == 1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exactly two packets: SYN, then SYN+ACK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· TLS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tls.handshake.type == 1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hostname, in cleartext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· HTTP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http.request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Host: header — and nothing over HTTPS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Wireshark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display filter reference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fully worked annotated capture</a:t>
            </a:r>
            <a:endParaRPr lang="en-US" sz="1275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link failed. Everything looked down.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October 2021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117598"/>
            <a:ext cx="5219700" cy="12435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routine backbone maintenance</a:t>
            </a: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was issued to </a:t>
            </a: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</a:t>
            </a:r>
            <a:pPr algn="l" indent="0" marL="0">
              <a:lnSpc>
                <a:spcPct val="136000"/>
              </a:lnSpc>
              <a:buNone/>
            </a:pP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494532"/>
            <a:ext cx="5219700" cy="414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audit tool had a bug.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" y="4042410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Facebook data centre fell</a:t>
            </a: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 the internet.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86500" y="1683258"/>
            <a:ext cx="5219700" cy="3105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2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actually broke for users</a:t>
            </a:r>
            <a:endParaRPr lang="en-US" sz="2220" dirty="0"/>
          </a:p>
        </p:txBody>
      </p:sp>
      <p:sp>
        <p:nvSpPr>
          <p:cNvPr id="12" name="Text 10"/>
          <p:cNvSpPr/>
          <p:nvPr/>
        </p:nvSpPr>
        <p:spPr>
          <a:xfrm>
            <a:off x="6286500" y="2106603"/>
            <a:ext cx="5219700" cy="1206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DNS servers were healthy, but</a:t>
            </a:r>
            <a:endParaRPr lang="en-US" sz="2368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3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their health check could not reach</a:t>
            </a:r>
            <a:endParaRPr lang="en-US" sz="2368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3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centres.</a:t>
            </a:r>
            <a:endParaRPr lang="en-US" sz="2368" dirty="0"/>
          </a:p>
        </p:txBody>
      </p:sp>
      <p:sp>
        <p:nvSpPr>
          <p:cNvPr id="13" name="Text 11"/>
          <p:cNvSpPr/>
          <p:nvPr/>
        </p:nvSpPr>
        <p:spPr>
          <a:xfrm>
            <a:off x="6286500" y="3444931"/>
            <a:ext cx="5219700" cy="402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withdrew their BGP routes.</a:t>
            </a:r>
            <a:endParaRPr lang="en-US" sz="2368" dirty="0"/>
          </a:p>
        </p:txBody>
      </p:sp>
      <p:sp>
        <p:nvSpPr>
          <p:cNvPr id="14" name="Shape 12"/>
          <p:cNvSpPr/>
          <p:nvPr/>
        </p:nvSpPr>
        <p:spPr>
          <a:xfrm>
            <a:off x="6286500" y="3978762"/>
            <a:ext cx="5219700" cy="1585856"/>
          </a:xfrm>
          <a:prstGeom prst="roundRect">
            <a:avLst>
              <a:gd name="adj" fmla="val 2883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6500" y="3978762"/>
            <a:ext cx="76200" cy="1585856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5100" y="4074012"/>
            <a:ext cx="4762500" cy="2631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15100" y="4413632"/>
            <a:ext cx="4762500" cy="7689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2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3 failed; every other link became unreachable.</a:t>
            </a:r>
            <a:endParaRPr lang="en-US" sz="2226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 Engineering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More details about the October 4 outage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(primary postmortem)</a:t>
            </a:r>
            <a:endParaRPr lang="en-US" sz="1275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764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3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Links 9 to 12: the bytes arrived, and nothing is on screen yet</a:t>
            </a:r>
            <a:endParaRPr lang="en-US" sz="3430" dirty="0"/>
          </a:p>
        </p:txBody>
      </p:sp>
      <p:sp>
        <p:nvSpPr>
          <p:cNvPr id="7" name="Text 5"/>
          <p:cNvSpPr/>
          <p:nvPr/>
        </p:nvSpPr>
        <p:spPr>
          <a:xfrm>
            <a:off x="685800" y="1784238"/>
            <a:ext cx="10820400" cy="231364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HTML becomes a DOM; a blocking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stops the parser dead</a:t>
            </a:r>
            <a:endParaRPr lang="en-US" sz="196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JavaScript runs, and with client-side rendering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visible until it finishes</a:t>
            </a:r>
            <a:endParaRPr lang="en-US" sz="196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style, layout, paint, composite; this is where a11y and Core Web Vitals live</a:t>
            </a:r>
            <a:endParaRPr lang="en-US" sz="196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page looks ready but the handlers are not attached yet, so clicks are dropped</a:t>
            </a:r>
            <a:endParaRPr lang="en-US" sz="1960" dirty="0"/>
          </a:p>
        </p:txBody>
      </p:sp>
      <p:sp>
        <p:nvSpPr>
          <p:cNvPr id="8" name="Shape 6"/>
          <p:cNvSpPr/>
          <p:nvPr/>
        </p:nvSpPr>
        <p:spPr>
          <a:xfrm>
            <a:off x="685800" y="4206779"/>
            <a:ext cx="10820400" cy="1383767"/>
          </a:xfrm>
          <a:prstGeom prst="roundRect">
            <a:avLst>
              <a:gd name="adj" fmla="val 3304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206779"/>
            <a:ext cx="76200" cy="1383767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302029"/>
            <a:ext cx="10363200" cy="217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599517"/>
            <a:ext cx="10363200" cy="9004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4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"Fast" is not one number. A page can reach first paint in 400 ms and be unusable</a:t>
            </a:r>
            <a:endParaRPr lang="en-US" sz="1842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4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three seconds. Users report the second one.</a:t>
            </a:r>
            <a:endParaRPr lang="en-US" sz="1842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Navigation and resource timings</a:t>
            </a:r>
            <a:endParaRPr lang="en-US" sz="1275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URL chain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4762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Solo (4 min) → cold call (3 min) → debrief (3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users, four reports. Which link broke, and what evidence settles it?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5800" y="3347466"/>
            <a:ext cx="10820400" cy="1780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"Server not found." Their colleague at the next desk loads it fine.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Padlock warning on a phone; fine on both laptops in the room.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loads instantly but shows yesterday's incident list.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paints in 300 ms; buttons do nothing for four seconds.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URL chain and which week owns each link</a:t>
            </a:r>
            <a:endParaRPr lang="en-US" sz="1275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Individual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9355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4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Guided lab: capture your own traffic, then break your own port</a:t>
            </a:r>
            <a:endParaRPr lang="en-US" sz="3746" dirty="0"/>
          </a:p>
        </p:txBody>
      </p:sp>
      <p:sp>
        <p:nvSpPr>
          <p:cNvPr id="7" name="Text 5"/>
          <p:cNvSpPr/>
          <p:nvPr/>
        </p:nvSpPr>
        <p:spPr>
          <a:xfrm>
            <a:off x="685800" y="1951931"/>
            <a:ext cx="10820400" cy="2787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41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Now, 35 minutes: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4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find your machine's network settings, then capture a real page load</a:t>
            </a:r>
            <a:endParaRPr lang="en-US" sz="214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41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capture: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4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point at the DNS query, the TCP handshake, the TLS ClientHello, and the first HTTP request</a:t>
            </a:r>
            <a:endParaRPr lang="en-US" sz="214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41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break it on purpose: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4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stop your own listening port and diagnose refused vs. timed out vs. reset from symptoms alone</a:t>
            </a:r>
            <a:endParaRPr lang="en-US" sz="2141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41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Evidence, not a screenshot: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4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every step has a saved fallback capture for a restricted machine or VPN</a:t>
            </a:r>
            <a:endParaRPr lang="en-US" sz="2141" dirty="0"/>
          </a:p>
        </p:txBody>
      </p:sp>
      <p:sp>
        <p:nvSpPr>
          <p:cNvPr id="8" name="Shape 6"/>
          <p:cNvSpPr/>
          <p:nvPr/>
        </p:nvSpPr>
        <p:spPr>
          <a:xfrm>
            <a:off x="685800" y="4858527"/>
            <a:ext cx="10820400" cy="987242"/>
          </a:xfrm>
          <a:prstGeom prst="roundRect">
            <a:avLst>
              <a:gd name="adj" fmla="val 4631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858527"/>
            <a:ext cx="76200" cy="987242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953777"/>
            <a:ext cx="10363200" cy="237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5269915"/>
            <a:ext cx="10363200" cy="3475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instructions and fallbacks: </a:t>
            </a:r>
            <a:pPr algn="l" indent="0" marL="0">
              <a:lnSpc>
                <a:spcPct val="136000"/>
              </a:lnSpc>
              <a:buNone/>
            </a:pPr>
            <a:r>
              <a:rPr lang="en-US" sz="2012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lab.md</a:t>
            </a:r>
            <a:pPr algn="l" indent="0" marL="0">
              <a:lnSpc>
                <a:spcPct val="136000"/>
              </a:lnSpc>
              <a:buNone/>
            </a:pPr>
            <a:r>
              <a:rPr lang="en-US" sz="20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012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Homework brief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7093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HW1: the Packet-to-Pixel Evidence Dossier</a:t>
            </a:r>
            <a:endParaRPr lang="en-US" sz="3276" dirty="0"/>
          </a:p>
        </p:txBody>
      </p:sp>
      <p:sp>
        <p:nvSpPr>
          <p:cNvPr id="7" name="Text 5"/>
          <p:cNvSpPr/>
          <p:nvPr/>
        </p:nvSpPr>
        <p:spPr>
          <a:xfrm>
            <a:off x="685800" y="1374485"/>
            <a:ext cx="10820400" cy="30393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prove you can watch one page load happen and read the evidence, not guess at it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Deliverables: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network config, an annotated packet capture, a HAR export, and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-v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trace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socket/port map, a hand-drawn sequence diagram, two diagnosed failures, and proof of domain purchase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9, the non-generatable one: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reject one AI claim about your own evidence, and show what disproves it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 your domain this week.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Registrar verification and propagation are a third party's clock, not yours</a:t>
            </a:r>
            <a:endParaRPr lang="en-US" sz="18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points · individual · full handout and rubric: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homework.md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at the start of Week 2 class</a:t>
            </a:r>
            <a:endParaRPr lang="en-US" sz="1872" dirty="0"/>
          </a:p>
        </p:txBody>
      </p:sp>
      <p:sp>
        <p:nvSpPr>
          <p:cNvPr id="8" name="Shape 6"/>
          <p:cNvSpPr/>
          <p:nvPr/>
        </p:nvSpPr>
        <p:spPr>
          <a:xfrm>
            <a:off x="685800" y="4517861"/>
            <a:ext cx="10820400" cy="1078267"/>
          </a:xfrm>
          <a:prstGeom prst="roundRect">
            <a:avLst>
              <a:gd name="adj" fmla="val 4240"/>
            </a:avLst>
          </a:prstGeom>
          <a:solidFill>
            <a:srgbClr val="10321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517861"/>
            <a:ext cx="76200" cy="1078267"/>
          </a:xfrm>
          <a:prstGeom prst="rect">
            <a:avLst/>
          </a:prstGeom>
          <a:solidFill>
            <a:srgbClr val="86EF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13111"/>
            <a:ext cx="103632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86EFA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✦  TIP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901528"/>
            <a:ext cx="10363200" cy="59949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domain hardship path is private, needs no explanation, and carries no grade difference. Ask, and it is done.</a:t>
            </a:r>
            <a:endParaRPr lang="en-US" sz="1760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HW1 handout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evidence standard</a:t>
            </a:r>
            <a:endParaRPr lang="en-US" sz="1275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W01·C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Closing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90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you go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26108"/>
            <a:ext cx="10820400" cy="4005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 ticket: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one sentence — what surprised you about today's journey, or where it still feels fuzzy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Bring to Week 2: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your purchased domain and registrar login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Week 2 class: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complete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2 prep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five items, about 44 minutes, plus its readiness check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logistics question we didn't reach: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discussion board, not a hallway guess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week: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name you just bought becomes an address — resolution, in depth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90</Slides>
  <Notes>90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 and the Network Underneath — Week 1 Full session</dc:title>
  <dc:subject>Review, preparation, logistics, teaching, individual practice, and the end-of-class brief</dc:subject>
  <dc:creator>Course staff</dc:creator>
  <cp:lastModifiedBy>Course staff</cp:lastModifiedBy>
  <cp:revision>1</cp:revision>
  <dcterms:created xsi:type="dcterms:W3CDTF">2026-09-10T21:24:05Z</dcterms:created>
  <dcterms:modified xsi:type="dcterms:W3CDTF">2026-09-10T21:24:05Z</dcterms:modified>
</cp:coreProperties>
</file>