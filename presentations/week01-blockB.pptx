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[full annotated capture](../samples/network-config.txt)
Microsoft — [what 168.63.129.16 is](https://learn.microsoft.com/en-us/azure/virtual-network/what-is-ip-address-168-63-129-16)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ipconfig /all
Get-NetIPConfiguration
SOURCES:
Microsoft — [Get-NetIPConfiguration](https://learn.microsoft.com/powershell/module/nettcpip/get-netipconfiguration)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networksetup -listallhardwareports
printf 'Device for active Wi-Fi/Ethernet (from list): '
read -r iface
ipconfig getifaddr "$iface"
ipconfig getpacket "$iface"
ifconfig "$iface"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route -n get default
scutil --dns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2131 §3.1, DHCP client-server interaction](https://www.rfc-editor.org/rfc/rfc2131.html)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826, Address Resolution Protocol](https://www.rfc-editor.org/rfc/rfc826.html) · [RFC 4861, Neighbor Discovery](https://www.rfc-editor.org/rfc/rfc4861.html)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1918, private address allocation](https://www.rfc-editor.org/rfc/rfc1918.html) · [RFC 3927, IPv4 link-local](https://www.rfc-editor.org/rfc/rfc3927.html)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[annotated route table](../samples/network-config.txt)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route print -4
arp -a
Get-NetNeighbor -AddressFamily IPv6
SOURCES:
Microsoft — [Get-NetNeighbor](https://learn.microsoft.com/powershell/module/nettcpip/get-netneighbor)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netstat -rn -f inet
route -n get default
arp -a
ndp -an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[the full NAT capture](../samples/path-and-nat.txt)
IETF — [RFC 3022, Traditional NAT and NAPT](https://www.rfc-editor.org/rfc/rfc3022.html)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[full socket capture](../samples/sockets-and-ports.txt)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[the full transcript](../samples/sockets-and-ports.txt)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[the stub server](../samples/campuspulse-stub.mjs)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--version
node .\weeks\week01\samples\campuspulse-stub.mjs 127.0.0.1 8471
SOURCES:
Course — [stub arguments and response fields](../samples/campuspulse-stub.mjs)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--version
node ./weeks/week01/samples/campuspulse-stub.mjs 127.0.0.1 8471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ipconfig
$lan = Read-Host 'Active LAN IPv4, not 127.0.0.1'
Get-NetTCPConnection -State Listen -LocalPort 8471 |
  Select-Object LocalAddress, LocalPort, OwningProcess
curl.exe --noproxy '*' -sS --max-time 3 http://127.0.0.1:8471/healthz
curl.exe --noproxy '*' -sS --max-time 3 "http://${lan}:8471/healthz"
$LASTEXITCODE
SOURCES:
Microsoft — [`Get-NetTCPConnection`](https://learn.microsoft.com/powershell/module/nettcpip/get-nettcpconnection)
Course — [socket evidence](../samples/sockets-and-ports.txt)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networksetup -listallhardwareports
printf 'Active LAN Device from list: '; read -r iface
lan=$(ipconfig getifaddr "$iface")
printf 'LAN IPv4: %s\n' "$lan"
# If blank, stop here and use the offline comparison.
lsof -nP -iTCP:8471 -sTCP:LISTEN
curl --noproxy '*' -sS --max-time 3 http://127.0.0.1:8471/healthz
curl --noproxy '*' -sS --max-time 3 "http://${lan}:8471/healthz"
printf 'exit=%s\n' "$?"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.\weeks\week01\samples\campuspulse-stub.mjs 0.0.0.0 8471
SOURCES:
Course — [stub server](../samples/campuspulse-stub.mjs)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./weeks/week01/samples/campuspulse-stub.mjs 0.0.0.0 8471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[response fields](../samples/campuspulse-stub.mjs)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Get-Content .\weeks\week01\samples\sockets-and-ports.txt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cat ./weeks/week01/samples/sockets-and-ports.txt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[supplied failure prompt and artifacts](../samples/injected-failures/failure-01-refused-from-lan/README.md)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network-config.txt" TargetMode="External"/><Relationship Id="rId2" Type="http://schemas.openxmlformats.org/officeDocument/2006/relationships/hyperlink" Target="https://learn.microsoft.com/en-us/azure/virtual-network/what-is-ip-address-168-63-129-1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nettcpip/get-netipconfigur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2131.html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26.html" TargetMode="External"/><Relationship Id="rId2" Type="http://schemas.openxmlformats.org/officeDocument/2006/relationships/hyperlink" Target="https://www.rfc-editor.org/rfc/rfc4861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918.html" TargetMode="External"/><Relationship Id="rId2" Type="http://schemas.openxmlformats.org/officeDocument/2006/relationships/hyperlink" Target="https://www.rfc-editor.org/rfc/rfc392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network-config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nettcpip/get-netneighbo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../samples/path-and-nat.txt" TargetMode="External"/><Relationship Id="rId2" Type="http://schemas.openxmlformats.org/officeDocument/2006/relationships/hyperlink" Target="https://www.rfc-editor.org/rfc/rfc3022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sockets-and-port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sockets-and-port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nettcpip/get-nettcpconnection" TargetMode="External"/><Relationship Id="rId2" Type="http://schemas.openxmlformats.org/officeDocument/2006/relationships/hyperlink" Target="../samples/sockets-and-port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injected-failures/failure-01-refused-from-l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Getting on the network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machine acquires an identity, finds its neighbours, and reaches everything else — and why none of it is visible from your source code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Block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reachable from here, invisible from there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Maya's laptop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 assigns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10.24.18.73/20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10.24.16.1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DNS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10.20.0.53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answers at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Luis's laptop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10.24.18.73:8080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refused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listener table reveals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127.0.0.1:8080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Wi-Fi address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bind setting, not the React code, decides who can connect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6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questions, answered before your code exists</a:t>
            </a:r>
            <a:endParaRPr lang="en-US" sz="4062" dirty="0"/>
          </a:p>
        </p:txBody>
      </p:sp>
      <p:sp>
        <p:nvSpPr>
          <p:cNvPr id="7" name="Text 5"/>
          <p:cNvSpPr/>
          <p:nvPr/>
        </p:nvSpPr>
        <p:spPr>
          <a:xfrm>
            <a:off x="685800" y="2136379"/>
            <a:ext cx="10820400" cy="16558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am I?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address this machine is allowed to use</a:t>
            </a:r>
            <a:endParaRPr lang="en-US" sz="232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nearby?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addresses it can reach without help</a:t>
            </a:r>
            <a:endParaRPr lang="en-US" sz="232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get out?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where to send everything else</a:t>
            </a:r>
            <a:endParaRPr lang="en-US" sz="232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answers names?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server turns text into an address</a:t>
            </a:r>
            <a:endParaRPr lang="en-US" sz="2321" dirty="0"/>
          </a:p>
        </p:txBody>
      </p:sp>
      <p:sp>
        <p:nvSpPr>
          <p:cNvPr id="8" name="Shape 6"/>
          <p:cNvSpPr/>
          <p:nvPr/>
        </p:nvSpPr>
        <p:spPr>
          <a:xfrm>
            <a:off x="685800" y="3921161"/>
            <a:ext cx="10820400" cy="1913161"/>
          </a:xfrm>
          <a:prstGeom prst="roundRect">
            <a:avLst>
              <a:gd name="adj" fmla="val 239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21161"/>
            <a:ext cx="76200" cy="191316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16411"/>
            <a:ext cx="10363200" cy="257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51149"/>
            <a:ext cx="10363200" cy="11304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8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application answers none of these. It inherits all four answers, from a</a:t>
            </a:r>
            <a:endParaRPr lang="en-US" sz="2182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18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it never authenticated to, over a protocol it never chose.</a:t>
            </a:r>
            <a:endParaRPr lang="en-US" sz="218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joining a local network</a:t>
            </a:r>
            <a:endParaRPr lang="en-US" sz="4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DHCP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protocol a network uses to hand a newly joined device its address and settings.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Lease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time-limited grant of that address. It expires, is renewed, and can change.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hardware address burned into a network adapter. Used only within one local network.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"who has this address?" question a device shouts locally to find a neighbour's MAC address.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 gives a new device its starting information. ARP then helps it find another device on the same local network.</a:t>
            </a:r>
            <a:endParaRPr lang="en-US" sz="22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choosing the next hop</a:t>
            </a:r>
            <a:endParaRPr lang="en-US" sz="4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Subnet mask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rule that says which addresses count as local neighbours and which do not.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CIDR (/20)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shorthand for that same rule: how many leading bits of the address identify the network.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On-link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destination you can reach directly, without asking the gateway to forward it.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device you hand traffic to when the destination is not on-link.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mechanism in the next fifteen minutes is one of these eight words in action. You are not expected to know them yet.</a:t>
            </a:r>
            <a:endParaRPr lang="en-US" sz="22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350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3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your machine will tell you</a:t>
            </a:r>
            <a:endParaRPr lang="en-US" sz="3733" dirty="0"/>
          </a:p>
        </p:txBody>
      </p:sp>
      <p:sp>
        <p:nvSpPr>
          <p:cNvPr id="7" name="Shape 5"/>
          <p:cNvSpPr/>
          <p:nvPr/>
        </p:nvSpPr>
        <p:spPr>
          <a:xfrm>
            <a:off x="685800" y="1451041"/>
            <a:ext cx="10820400" cy="2470117"/>
          </a:xfrm>
          <a:prstGeom prst="roundRect">
            <a:avLst>
              <a:gd name="adj" fmla="val 222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5104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700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ipconfig /all - captured and sanitized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00621"/>
            <a:ext cx="10439400" cy="189480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Physical Address. . . . . : 00-0D-3A-XX-XX-XX     # layer 2 identity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DHCP Enabled. . . . . . . : Yes                   # &lt;- negotiated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IPv4 Address. . . . . . . : 10.0.20.252           # 1. who am I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Subnet Mask . . . . . . . : 255.255.128.0         # 2. who is nearby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Default Gateway . . . . . : 10.0.0.1              # 3. how do I get out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DHCP Server . . . . . . . : 168.63.129.16         # who told me all this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DNS Servers . . . . . . . : 10.0.254.4            # 4. who answers names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56628"/>
            <a:ext cx="10820400" cy="1522901"/>
          </a:xfrm>
          <a:prstGeom prst="roundRect">
            <a:avLst>
              <a:gd name="adj" fmla="val 300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56628"/>
            <a:ext cx="76200" cy="152290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51878"/>
            <a:ext cx="10363200" cy="237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67268"/>
            <a:ext cx="10363200" cy="10304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Gateway, DHCP server, resolver: </a:t>
            </a:r>
            <a:pPr algn="l" indent="0" marL="0">
              <a:lnSpc>
                <a:spcPct val="136000"/>
              </a:lnSpc>
              <a:buNone/>
            </a:pPr>
            <a:r>
              <a:rPr lang="en-US" sz="200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different jobs</a:t>
            </a:r>
            <a:pPr algn="l" indent="0" marL="0">
              <a:lnSpc>
                <a:spcPct val="136000"/>
              </a:lnSpc>
              <a:buNone/>
            </a:pPr>
            <a:r>
              <a:rPr lang="en-US" sz="20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home router may do</a:t>
            </a:r>
            <a:endParaRPr lang="en-US" sz="200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0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three, but they need not share an address.</a:t>
            </a:r>
            <a:endParaRPr lang="en-US" sz="2005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annotated capture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168.63.129.16 is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inspect the active connection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read-only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 /all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Get-NetIPConfiguration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active adapter's address, prefix or mask, gateway, and DNS servers. Do not copy the sample's addresses.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Get-NetIPConfiguration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69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9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find the interface and address</a:t>
            </a:r>
            <a:endParaRPr lang="en-US" sz="4093" dirty="0"/>
          </a:p>
        </p:txBody>
      </p:sp>
      <p:sp>
        <p:nvSpPr>
          <p:cNvPr id="7" name="Shape 5"/>
          <p:cNvSpPr/>
          <p:nvPr/>
        </p:nvSpPr>
        <p:spPr>
          <a:xfrm>
            <a:off x="685800" y="1582696"/>
            <a:ext cx="10820400" cy="2573954"/>
          </a:xfrm>
          <a:prstGeom prst="roundRect">
            <a:avLst>
              <a:gd name="adj" fmla="val 21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8269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0174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read-only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32276"/>
            <a:ext cx="10439400" cy="199864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networksetup -listallhardwareports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'Device for active Wi-Fi/Ethernet (from list):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-r iface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 getifaddr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 getpacket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ifconfig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05159"/>
            <a:ext cx="10820400" cy="1528031"/>
          </a:xfrm>
          <a:prstGeom prst="roundRect">
            <a:avLst>
              <a:gd name="adj" fmla="val 299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05159"/>
            <a:ext cx="76200" cy="152803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00409"/>
            <a:ext cx="10363200" cy="25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36987"/>
            <a:ext cx="10363200" cy="7594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9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assume Wi-Fi is en0. Match the hardware port to its Device entry.</a:t>
            </a:r>
            <a:endParaRPr lang="en-US" sz="219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lease fields: the same questions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fields describe the last IPv4 DHCP response, not every current policy.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88514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in getpacket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question as the Windows capture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yiaddr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IPv4 address was supplied?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subnet_mask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destinations are local?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gateway was supplied?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domain_name_server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name servers were supplied?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find the gateway and resolvers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read-only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 -n get default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scutil --dns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gateway and interface in the route; read nameserver and scope in the resolver configuration.</a:t>
            </a:r>
            <a:endParaRPr lang="en-US" sz="225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address arrives: DISCOVER, OFFER, REQUEST, ACK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2881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2959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 DORA — four messages, two of them broadcast, before the machine has an address to be addressed by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2131 §3.1, DHCP client-server interaction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26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8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lease is not just an address</a:t>
            </a:r>
            <a:endParaRPr lang="en-US" sz="3688" dirty="0"/>
          </a:p>
        </p:txBody>
      </p:sp>
      <p:sp>
        <p:nvSpPr>
          <p:cNvPr id="7" name="Text 5"/>
          <p:cNvSpPr/>
          <p:nvPr/>
        </p:nvSpPr>
        <p:spPr>
          <a:xfrm>
            <a:off x="685800" y="1467472"/>
            <a:ext cx="10820400" cy="23604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+ mask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identity, and the definition of "nearby"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gateway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way out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servers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who resolves names, which is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decision made for you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Lease duration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this is a rental, and it expires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NTP, domain, search suffix, routes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options nobody reads until one breaks</a:t>
            </a:r>
            <a:endParaRPr lang="en-US" sz="2108" dirty="0"/>
          </a:p>
        </p:txBody>
      </p:sp>
      <p:sp>
        <p:nvSpPr>
          <p:cNvPr id="8" name="Shape 6"/>
          <p:cNvSpPr/>
          <p:nvPr/>
        </p:nvSpPr>
        <p:spPr>
          <a:xfrm>
            <a:off x="685800" y="3945063"/>
            <a:ext cx="10820400" cy="1902803"/>
          </a:xfrm>
          <a:prstGeom prst="roundRect">
            <a:avLst>
              <a:gd name="adj" fmla="val 2403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45063"/>
            <a:ext cx="76200" cy="1902803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40313"/>
            <a:ext cx="10363200" cy="234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53043"/>
            <a:ext cx="10363200" cy="13687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8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lease that never expires is not normal. On the capture above it ran to the year</a:t>
            </a:r>
            <a:endParaRPr lang="en-US" sz="1981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8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2162 — a platform artifact of a cloud VM. A home router hands out 12 or 24 hours.</a:t>
            </a:r>
            <a:endParaRPr lang="en-US" sz="198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ARP: the frame needs a different address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packet is addressed to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10.0.19.7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needs a MAC.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80004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host broadcasts </a:t>
            </a:r>
            <a:pPr algn="l" indent="0" marL="0">
              <a:lnSpc>
                <a:spcPct val="136000"/>
              </a:lnSpc>
              <a:buNone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"who has 10.0.19.7?"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caches the reply.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reality on a cloud network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86500" y="2117598"/>
            <a:ext cx="5219700" cy="1658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 -a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10.0.0.1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10.0.0.63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10.0.1.52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10.0.7.77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to the same MAC.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shared wire; the fabric answers for everything.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86500" y="3909060"/>
            <a:ext cx="5219700" cy="1629156"/>
          </a:xfrm>
          <a:prstGeom prst="roundRect">
            <a:avLst>
              <a:gd name="adj" fmla="val 2806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3909060"/>
            <a:ext cx="76200" cy="162915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5100" y="4004310"/>
            <a:ext cx="4762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15100" y="4347210"/>
            <a:ext cx="47625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IPv6 replaces ARP with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NDP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Same job.</a:t>
            </a:r>
            <a:endParaRPr lang="en-US" sz="2256" dirty="0"/>
          </a:p>
        </p:txBody>
      </p:sp>
      <p:sp>
        <p:nvSpPr>
          <p:cNvPr id="16" name="Shape 14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826, Address Resolution Protocol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4861, Neighbor Discovery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addresses can exist in public</a:t>
            </a:r>
            <a:endParaRPr lang="en-US" sz="4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CIDR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it works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will meet 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10.0.0.0/8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VNets, campus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172.16.0.0/12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Docker, WSL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192.168.0.0/16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routers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127.0.0.0/8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machine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whole problem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169.254.0.0/16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link-local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DHCP failed; cloud metadata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fe80::/10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link-local IPv6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IPv6 interface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1918, private address allocation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3927, IPv4 link-local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353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37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CIDR: how many bits are the network?</a:t>
            </a:r>
            <a:endParaRPr lang="en-US" sz="3737" dirty="0"/>
          </a:p>
        </p:txBody>
      </p:sp>
      <p:sp>
        <p:nvSpPr>
          <p:cNvPr id="7" name="Shape 5"/>
          <p:cNvSpPr/>
          <p:nvPr/>
        </p:nvSpPr>
        <p:spPr>
          <a:xfrm>
            <a:off x="685800" y="1451465"/>
            <a:ext cx="10820400" cy="2735309"/>
          </a:xfrm>
          <a:prstGeom prst="roundRect">
            <a:avLst>
              <a:gd name="adj" fmla="val 200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5146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7051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255.255.128.0 is /17 — worked from the real capture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01045"/>
            <a:ext cx="10439400" cy="215999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255.255.128.0 = 11111111 11111111 1000 0000 00000000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|--- 17 network ---|---- 15 host ----|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2^15 = 32,768 addresses    10.0.0.0 -&gt; 10.0.127.255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10.0.19.7   in the /17     -&gt; on-link, ARP for it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10.0.200.4  NOT in the /17 -&gt; hand it to the gateway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8.8.8.8     nowhere near   -&gt; hand it to the gateway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22380"/>
            <a:ext cx="10820400" cy="1523713"/>
          </a:xfrm>
          <a:prstGeom prst="roundRect">
            <a:avLst>
              <a:gd name="adj" fmla="val 300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22380"/>
            <a:ext cx="76200" cy="152371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7630"/>
            <a:ext cx="10363200" cy="237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33242"/>
            <a:ext cx="10363200" cy="1031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0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mask is the </a:t>
            </a:r>
            <a:pPr algn="l" indent="0" marL="0">
              <a:lnSpc>
                <a:spcPct val="136000"/>
              </a:lnSpc>
              <a:buNone/>
            </a:pPr>
            <a:r>
              <a:rPr lang="en-US" sz="200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if-statement</a:t>
            </a:r>
            <a:pPr algn="l" indent="0" marL="0">
              <a:lnSpc>
                <a:spcPct val="136000"/>
              </a:lnSpc>
              <a:buNone/>
            </a:pPr>
            <a:r>
              <a:rPr lang="en-US" sz="200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machine runs on every outbound packet:
</a:t>
            </a:r>
            <a:pPr algn="l" indent="0" marL="0">
              <a:lnSpc>
                <a:spcPct val="136000"/>
              </a:lnSpc>
              <a:buNone/>
            </a:pPr>
            <a:r>
              <a:rPr lang="en-US" sz="2007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on-link, or hand it to the gateway?</a:t>
            </a:r>
            <a:endParaRPr lang="en-US" sz="200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route table is that if-statement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route print -4 - trimmed; most specific prefix wins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          Gateway        Meaning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0.0.0.0/0            10.0.0.1       default route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10.0.0.0/17          On-link        local campus subnet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127.0.0.0/8          On-link        loopback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169.254.169.254/32   10.0.0.1       one pinned host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 10.0.19.7  -&gt; /17 -&gt; ARP for it directly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 8.8.8.8    -&gt; /0  -&gt; frame to gateway; IP stays 8.8.8.8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 127.0.0.1  -&gt; /8  -&gt; never leaves the kernel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annotated route table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routes and nearby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inspection 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 print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Get-NetNeighbor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-AddressFamily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IPv6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choose the next hop. Neighbor entries map nearby network addresses to link addresses.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Get-NetNeighbor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routes and nearby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inspection 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 -rn -f inet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 -n get default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 -a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ndp -an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Destination, Gateway, and Netif; use ARP for IPv4 neighbors and NDP for IPv6.</a:t>
            </a:r>
            <a:endParaRPr lang="en-US" sz="225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reaching the Internet</a:t>
            </a:r>
            <a:endParaRPr lang="en-US" sz="4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address usable only inside one network. Many networks reuse the same private ranges.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globally unique address that the rest of the Internet can route to.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Rewriting private addresses into one shared public address on the way out, and back on the way in.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number that says which program on a machine a message is for.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home or campus network can use private addresses inside, then use NAT to share one public address when it talks to the Internet.</a:t>
            </a:r>
            <a:endParaRPr lang="en-US" sz="2256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a program's connection</a:t>
            </a:r>
            <a:endParaRPr lang="en-US" sz="4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end of a conversation: an address plus a port.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Listening 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program waiting for connections on a port.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 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established conversation between two specific address-and-port pairs.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Bind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address a program agrees to accept connections on. 127.0.0.1 means "this machine only".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(also called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loopback) never leaves your machine.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"accept on every address I have".</a:t>
            </a:r>
            <a:endParaRPr lang="en-US" sz="225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NAT: the address you have is not the address you are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3148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public address, many private machines, and a translation table only you can open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request, from both ends</a:t>
            </a:r>
            <a:endParaRPr lang="en-US" sz="4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host believes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 received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10.0.20.252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203.0.113.181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49302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55346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2988183"/>
            <a:ext cx="10820400" cy="2043684"/>
          </a:xfrm>
          <a:prstGeom prst="roundRect">
            <a:avLst>
              <a:gd name="adj" fmla="val 2237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988183"/>
            <a:ext cx="76200" cy="2043684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08343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3426333"/>
            <a:ext cx="10363200" cy="11689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port were rewritten in flight — and a second run seconds later left</a:t>
            </a:r>
            <a:endParaRPr lang="en-US" sz="225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</a:t>
            </a:r>
            <a:endParaRPr lang="en-US" sz="225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203.0.113.183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egress is a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a box.</a:t>
            </a:r>
            <a:endParaRPr lang="en-US" sz="2256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full NAT capture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3022, Traditional NAT and NAPT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227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2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Ports and sockets: two tuples, and the difference matters</a:t>
            </a:r>
            <a:endParaRPr lang="en-US" sz="3420" dirty="0"/>
          </a:p>
        </p:txBody>
      </p:sp>
      <p:sp>
        <p:nvSpPr>
          <p:cNvPr id="7" name="Text 5"/>
          <p:cNvSpPr/>
          <p:nvPr/>
        </p:nvSpPr>
        <p:spPr>
          <a:xfrm>
            <a:off x="685800" y="1830253"/>
            <a:ext cx="10820400" cy="24515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listening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socket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(address, port)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two values, e.g.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0.0.0.0:8471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socket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(local addr, local port, remote addr, remote port)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four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four-tuple is why one server port serves thousands of clients unambiguously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never chose its port; the kernel took one from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ephemeral range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TIME_WAIT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that four-tuple being held after close, not a leak</a:t>
            </a:r>
            <a:endParaRPr lang="en-US" sz="1954" dirty="0"/>
          </a:p>
        </p:txBody>
      </p:sp>
      <p:sp>
        <p:nvSpPr>
          <p:cNvPr id="8" name="Shape 6"/>
          <p:cNvSpPr/>
          <p:nvPr/>
        </p:nvSpPr>
        <p:spPr>
          <a:xfrm>
            <a:off x="685800" y="4390401"/>
            <a:ext cx="10820400" cy="1467212"/>
          </a:xfrm>
          <a:prstGeom prst="roundRect">
            <a:avLst>
              <a:gd name="adj" fmla="val 311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90401"/>
            <a:ext cx="76200" cy="146721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5651"/>
            <a:ext cx="10363200" cy="217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82542"/>
            <a:ext cx="10363200" cy="9517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socket is an </a:t>
            </a:r>
            <a:pPr algn="l" indent="0" marL="0">
              <a:lnSpc>
                <a:spcPct val="136000"/>
              </a:lnSpc>
              <a:buNone/>
            </a:pPr>
            <a:r>
              <a:rPr lang="en-US" sz="183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and a port</a:t>
            </a:r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If you got the address wrong, the port was</a:t>
            </a:r>
            <a:endParaRPr lang="en-US" sz="183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the problem.</a:t>
            </a:r>
            <a:endParaRPr lang="en-US" sz="1837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listener, many conversations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netstat -ano, captured during a live request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Proto  Local Address          Foreign Address        State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0.0.0.0:8471           0.0.0.0:0              LISTENING   25224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10.0.20.252:62681      10.0.20.252:8471       TIME_WAIT   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10.0.20.252:62684      10.0.20.252:8471       TIME_WAIT   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127.0.0.1:62630        127.0.0.1:8471         TIME_WAIT   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row 1   TWO values:  (0.0.0.0, 8471)         &lt;- the listener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rows 2+ FOUR values: (local, 62681, remote, 8471)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server side identical; the CLIENT ports differ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socket capture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machine, one port, two answers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339846"/>
          </a:xfrm>
          <a:prstGeom prst="roundRect">
            <a:avLst>
              <a:gd name="adj" fmla="val 164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bind address changes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7645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 to 127.0.0.1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  127.0.0.1:8471  LISTENING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127.0.0.1:8471    -&gt; campuspulse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10.0.20.252:8471  -&gt; Connection refused (same box)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rebound to 0.0.0.0 — no code changed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  0.0.0.0:8471    LISTENING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127.0.0.1:8471    -&gt; campuspulse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10.0.20.252:8471  -&gt; campuspulse ok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full transcript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51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Break it live, in ninety seconds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094921"/>
            <a:ext cx="5238750" cy="3620079"/>
          </a:xfrm>
          <a:prstGeom prst="roundRect">
            <a:avLst>
              <a:gd name="adj" fmla="val 1263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552121"/>
            <a:ext cx="4781550" cy="28658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and B at the repo root; choose your OS steps; Node 18+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loopback-only server and the two requests on the next slides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it, bind all interfaces, and repeat without changing the URL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094921"/>
            <a:ext cx="5238750" cy="2027244"/>
          </a:xfrm>
          <a:prstGeom prst="roundRect">
            <a:avLst>
              <a:gd name="adj" fmla="val 225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552121"/>
            <a:ext cx="4781550" cy="8188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Loopback: JSON; LAN request fails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Wildcard: JSON on both if allowed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312665"/>
            <a:ext cx="5238750" cy="1402335"/>
          </a:xfrm>
          <a:prstGeom prst="roundRect">
            <a:avLst>
              <a:gd name="adj" fmla="val 3260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26965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769865"/>
            <a:ext cx="4781550" cy="7081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socket capture on the cleanup slide.</a:t>
            </a:r>
            <a:endParaRPr lang="en-US" sz="220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stub server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A: bind only to loopback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keep Terminal A running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--version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.\weeks\week01\samples\campuspulse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-stub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214628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Expect: campuspulse listening on 127.0.0.1:8471.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stub arguments and response fields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bind only to loopback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--version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./weeks/week01/samples/campuspulse-stub.mjs 127.0.0.1 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"campuspulse listening on 127.0.0.1:8471". Keep this terminal running.</a:t>
            </a:r>
            <a:endParaRPr lang="en-US" sz="225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B: ask two different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015234"/>
          </a:xfrm>
          <a:prstGeom prst="roundRect">
            <a:avLst>
              <a:gd name="adj" fmla="val 182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Terminal B; choose YOUR active LAN IPv4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43992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Read-Host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'Active LAN IPv4, not 127.0.0.1'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Get-NetTCPConnection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Listen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-LocalPort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LocalAddress, LocalPort, OwningProcess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{lan}:8471/healthz"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$LASTEXITCODE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Get-NetTCPConnection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socket evidence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ask two different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Terminal B; active LAN IPv4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networksetup -listallhardwareports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'Active LAN Device from list: 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-r iface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lan=$(ipconfig getifaddr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'LAN IPv4: 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If blank, stop here and use the offline comparison.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lsof -nP -iTCP:8471 -sTCP:LISTEN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-sS --max-time 3 http://127.0.0.1:8471/healthz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-sS --max-time 3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${lan}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:8471/healthz"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'exit=%s\n'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"$?"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04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2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A: change just the listener</a:t>
            </a:r>
            <a:endParaRPr lang="en-US" sz="3926" dirty="0"/>
          </a:p>
        </p:txBody>
      </p:sp>
      <p:sp>
        <p:nvSpPr>
          <p:cNvPr id="7" name="Shape 5"/>
          <p:cNvSpPr/>
          <p:nvPr/>
        </p:nvSpPr>
        <p:spPr>
          <a:xfrm>
            <a:off x="685800" y="1525838"/>
            <a:ext cx="10820400" cy="964713"/>
          </a:xfrm>
          <a:prstGeom prst="roundRect">
            <a:avLst>
              <a:gd name="adj" fmla="val 568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2583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4488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after Ctrl+C in A; repository root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75418"/>
            <a:ext cx="10439400" cy="38940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.\weeks\week01\samples\campuspulse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-stub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633000"/>
            <a:ext cx="10820400" cy="1398552"/>
          </a:xfrm>
          <a:prstGeom prst="roundRect">
            <a:avLst>
              <a:gd name="adj" fmla="val 3269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33000"/>
            <a:ext cx="76200" cy="1398552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8250"/>
            <a:ext cx="10363200" cy="249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054978"/>
            <a:ext cx="10363200" cy="728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0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repeat the socket query and both curl requests from the previous slide, unchanged.</a:t>
            </a:r>
            <a:endParaRPr lang="en-US" sz="2109" dirty="0"/>
          </a:p>
        </p:txBody>
      </p:sp>
      <p:sp>
        <p:nvSpPr>
          <p:cNvPr id="15" name="Shape 13"/>
          <p:cNvSpPr/>
          <p:nvPr/>
        </p:nvSpPr>
        <p:spPr>
          <a:xfrm>
            <a:off x="685800" y="4174000"/>
            <a:ext cx="10820400" cy="1398552"/>
          </a:xfrm>
          <a:prstGeom prst="roundRect">
            <a:avLst>
              <a:gd name="adj" fmla="val 3269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174000"/>
            <a:ext cx="76200" cy="1398552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69250"/>
            <a:ext cx="10363200" cy="249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595978"/>
            <a:ext cx="10363200" cy="728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0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trusted lab network. This exposes the synthetic stub on every IPv4 interface.</a:t>
            </a:r>
            <a:endParaRPr lang="en-US" sz="2109" dirty="0"/>
          </a:p>
        </p:txBody>
      </p:sp>
      <p:sp>
        <p:nvSpPr>
          <p:cNvPr id="19" name="Shape 17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stub server</a:t>
            </a:r>
            <a:endParaRPr lang="en-US" sz="12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999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3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change just the listener</a:t>
            </a:r>
            <a:endParaRPr lang="en-US" sz="4033" dirty="0"/>
          </a:p>
        </p:txBody>
      </p:sp>
      <p:sp>
        <p:nvSpPr>
          <p:cNvPr id="7" name="Shape 5"/>
          <p:cNvSpPr/>
          <p:nvPr/>
        </p:nvSpPr>
        <p:spPr>
          <a:xfrm>
            <a:off x="685800" y="1564159"/>
            <a:ext cx="10820400" cy="1004844"/>
          </a:xfrm>
          <a:prstGeom prst="roundRect">
            <a:avLst>
              <a:gd name="adj" fmla="val 546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6415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8320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after Ctrl+C in A; repository root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13739"/>
            <a:ext cx="10439400" cy="42953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./weeks/week01/samples/campuspulse-stub.mjs 0.0.0.0 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715355"/>
            <a:ext cx="10820400" cy="1486821"/>
          </a:xfrm>
          <a:prstGeom prst="roundRect">
            <a:avLst>
              <a:gd name="adj" fmla="val 3075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15355"/>
            <a:ext cx="76200" cy="1486821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10605"/>
            <a:ext cx="10363200" cy="256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143677"/>
            <a:ext cx="10363200" cy="7483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B, repeat 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lsof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both 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requests. Expect a wildcard listener and, if policy permits, two JSON replies.</a:t>
            </a:r>
            <a:endParaRPr lang="en-US" sz="2166" dirty="0"/>
          </a:p>
        </p:txBody>
      </p:sp>
      <p:sp>
        <p:nvSpPr>
          <p:cNvPr id="15" name="Shape 13"/>
          <p:cNvSpPr/>
          <p:nvPr/>
        </p:nvSpPr>
        <p:spPr>
          <a:xfrm>
            <a:off x="685800" y="4348527"/>
            <a:ext cx="10820400" cy="1486821"/>
          </a:xfrm>
          <a:prstGeom prst="roundRect">
            <a:avLst>
              <a:gd name="adj" fmla="val 3075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48527"/>
            <a:ext cx="76200" cy="1486821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43777"/>
            <a:ext cx="10363200" cy="256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776849"/>
            <a:ext cx="10363200" cy="7483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trusted lab network. The synthetic stub now listens on every IPv4 interface.</a:t>
            </a:r>
            <a:endParaRPr lang="en-US" sz="2166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changed for Maya and Luis?</a:t>
            </a:r>
            <a:endParaRPr lang="en-US" sz="4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Mechanism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Safe conclusion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boundTo changes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listener accepts more destination addresses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bind configuration changed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servedOn differs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request chose an interface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process, two local paths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peer port differs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client connection gets a source port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request is not just a URL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Luis still cannot connect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boundary may block ingress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policy before changing code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response fields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stop the stub, keep the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Terminal B;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.\weeks\week01\samples\sockets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-and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-ports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21462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Ctrl+C in Terminal A to stop the all-interface listener.</a:t>
            </a:r>
            <a:endParaRPr lang="en-US" sz="2256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stop the stub, keep the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Terminal B;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./weeks/week01/samples/sockets-and-ports.txt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in Terminal A stops the server. The saved Windows/Linux output is reference evidence, not today's Mac output.</a:t>
            </a:r>
            <a:endParaRPr lang="en-US" sz="2256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206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6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"it works on localhost" means nothing</a:t>
            </a:r>
            <a:endParaRPr lang="en-US" sz="3562" dirty="0"/>
          </a:p>
        </p:txBody>
      </p:sp>
      <p:sp>
        <p:nvSpPr>
          <p:cNvPr id="7" name="Text 5"/>
          <p:cNvSpPr/>
          <p:nvPr/>
        </p:nvSpPr>
        <p:spPr>
          <a:xfrm>
            <a:off x="685800" y="1432001"/>
            <a:ext cx="10820400" cy="28202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127.0.0.0/8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matched in the route table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handed back to the kernel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 not cross the physical LAN, its router, or its NAT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successful loopback request tests the app and a local path, not remote ingress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address needs an explicit external path; NAPT may also rewrite its port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those is a thing a reviewer, a friend testing your app, and your users are on the other side of</a:t>
            </a:r>
            <a:endParaRPr lang="en-US" sz="2035" dirty="0"/>
          </a:p>
        </p:txBody>
      </p:sp>
      <p:sp>
        <p:nvSpPr>
          <p:cNvPr id="8" name="Shape 6"/>
          <p:cNvSpPr/>
          <p:nvPr/>
        </p:nvSpPr>
        <p:spPr>
          <a:xfrm>
            <a:off x="685800" y="4365300"/>
            <a:ext cx="10820400" cy="1487160"/>
          </a:xfrm>
          <a:prstGeom prst="roundRect">
            <a:avLst>
              <a:gd name="adj" fmla="val 3074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65300"/>
            <a:ext cx="76200" cy="14871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60550"/>
            <a:ext cx="10363200" cy="226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65814"/>
            <a:ext cx="10363200" cy="9913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1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"It works on my machine" is not a lie. It is a true statement about a code path</a:t>
            </a:r>
            <a:endParaRPr lang="en-US" sz="191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1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shares almost nothing with the one your users take.</a:t>
            </a:r>
            <a:endParaRPr lang="en-US" sz="191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74739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service works for Priya, but not for Dev. Three artifacts. Diagnose it.</a:t>
            </a:r>
            <a:endParaRPr lang="en-US" sz="3528" dirty="0"/>
          </a:p>
        </p:txBody>
      </p:sp>
      <p:sp>
        <p:nvSpPr>
          <p:cNvPr id="10" name="Shape 8"/>
          <p:cNvSpPr/>
          <p:nvPr/>
        </p:nvSpPr>
        <p:spPr>
          <a:xfrm>
            <a:off x="685800" y="2881764"/>
            <a:ext cx="10820400" cy="2074590"/>
          </a:xfrm>
          <a:prstGeom prst="roundRect">
            <a:avLst>
              <a:gd name="adj" fmla="val 264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300" y="3091314"/>
            <a:ext cx="10439400" cy="17393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  Priya runs:  netstat -ano | findstr :8080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TCP    127.0.0.1:8080    0.0.0.0:0    LISTENING    9134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  Dev runs:    curl --max-time 5 http://192.168.1.47:8080/healthz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curl: (7) Failed to connect ... Connection refused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C)  Dev runs:    curl --max-time 5 http://192.168.1.47:3000/  -&gt;  200 OK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5800" y="5084378"/>
            <a:ext cx="10820400" cy="51860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pPr algn="l" indent="0" marL="0">
              <a:lnSpc>
                <a:spcPct val="136000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What is the cause? </a:t>
            </a:r>
            <a:pPr algn="l" indent="0" marL="0">
              <a:lnSpc>
                <a:spcPct val="1360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pPr algn="l" indent="0" marL="0">
              <a:lnSpc>
                <a:spcPct val="136000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Which artifact rules out a completely broken path?
</a:t>
            </a:r>
            <a:pPr algn="l" indent="0" marL="0">
              <a:lnSpc>
                <a:spcPct val="1360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pPr algn="l" indent="0" marL="0">
              <a:lnSpc>
                <a:spcPct val="136000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Priya says "let's just use port 80." What happens?</a:t>
            </a:r>
            <a:endParaRPr lang="en-US" sz="2016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supplied failure prompt and artifacts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on the network — Week 1 Block B</dc:title>
  <dc:subject>How a machine acquires an identity, finds its neighbours, and reaches everything else — and why none of it is visible from your source code</dc:subject>
  <dc:creator>Course staff</dc:creator>
  <cp:lastModifiedBy>Course staff</cp:lastModifiedBy>
  <cp:revision>1</cp:revision>
  <dcterms:created xsi:type="dcterms:W3CDTF">2026-09-10T21:24:04Z</dcterms:created>
  <dcterms:modified xsi:type="dcterms:W3CDTF">2026-09-10T21:24:04Z</dcterms:modified>
</cp:coreProperties>
</file>