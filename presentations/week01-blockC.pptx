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9293, Transmission Control Protocol](https://www.rfc-editor.org/rfc/rfc9293.html)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9293 §3.6, closing a connection](https://www.rfc-editor.org/rfc/rfc9293.html)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[the full transcripts and a decision table](../samples/refused-vs-timeout.txt)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./weeks/week01/samples/abort-server.mjs 8472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.\weeks\week01\samples\abort-server.mjs 8472
SOURCES:
Course — [local reset fixture](../samples/abort-server.mjs)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curl --noproxy '*' -v --max-time 5 http://127.0.0.1:8472/
printf 'exit=%s\n' "$?"
# Ctrl+C in A; repeat these two commands to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curl.exe --noproxy '*' -v --max-time 5 http://127.0.0.1:8472/
$LASTEXITCODE
# Now Ctrl+C in Terminal A; repeat both lines to compare.
SOURCES:
curl — [exit codes and verbose diagnostics](https://curl.se/docs/manpage.html)
Course — [reset fixture](../samples/abort-server.mjs)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[failure decision table](../samples/refused-vs-timeout.txt)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cat ./weeks/week01/samples/refused-vs-timeout.txt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Get-Content .\weeks\week01\samples\refused-vs-timeout.txt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768, User Datagram Protocol](https://www.rfc-editor.org/rfc/rfc768.html)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9000, QUIC transport](https://www.rfc-editor.org/rfc/rfc9000.html) · [RFC 9114, HTTP/3](https://www.rfc-editor.org/rfc/rfc9114.html)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[curl manual — `--write-out` variables](https://curl.se/docs/manpage.html)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$fmt = 'dns=%{time_namelookup} tcp=%{time_connect} '
$fmt += 'tls=%{time_appconnect} ttfb=%{time_starttransfer} '
$fmt += 'total=%{time_total}\n'
curl.exe -sS -o NUL --max-time 15 -w $fmt https://www.depaul.edu/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fmt='dns=%{time_namelookup} tcp=%{time_connect} '
fmt="${fmt}tls=%{time_appconnect} ttfb=%{time_starttransfer} "
fmt="${fmt}total=%{time_total}\n"
curl -sS -o /dev/null --max-time 15 -w "$fmt" https://www.depaul.edu/
SOURCES:
curl — [write-out variables](https://curl.se/docs/manpage.html)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Wireshark — [display filter reference](https://www.wireshark.org/docs/wsug_html_chunked/ChWorkDisplayFilterSection.html)
Course — [a fully worked annotated capture](../samples/capture-walkthrough.md)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Meta Engineering — [More details about the October 4 outage](https://engineering.fb.com/2021/10/05/networking-traffic/outage-details/) (primary postmortem)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MDN — [Navigation and resource timings](https://developer.mozilla.org/en-US/docs/Web/Performance/Guides/Navigation_and_resource_timings)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[the URL chain and which week owns each link](../../../docs/course-map.md)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[HW1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9293.html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293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fused-vs-timeout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bort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hyperlink" Target="../samples/abort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fused-vs-timeout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00.html" TargetMode="External"/><Relationship Id="rId2" Type="http://schemas.openxmlformats.org/officeDocument/2006/relationships/hyperlink" Target="https://www.rfc-editor.org/rfc/rfc911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ireshark.org/docs/wsug_html_chunked/ChWorkDisplayFilterSection.html" TargetMode="External"/><Relationship Id="rId2" Type="http://schemas.openxmlformats.org/officeDocument/2006/relationships/hyperlink" Target="../samples/capture-walkthrough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engineering.fb.com/2021/10/05/networking-traffic/outage-detai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Performance/Guides/Navigation_and_resource_timing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course-ma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homework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../../week02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Transport and the URL chain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TCP, UDP, and QUIC — then every link between pressing Enter and seeing a pixel, which is the map the rest of this course is drawn 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Block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the spinner does not tell you which link failed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Maya sees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 taps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outage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the train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spinner runs for two seconds, then the page says "Try again"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first diagnosis: "the server is down"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evidence says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TCP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ms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TLS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 ms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JSON in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140 ms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console shows a JavaScript exception after the bytes arrive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starting a connection</a:t>
            </a:r>
            <a:endParaRPr lang="en-US" sz="4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agreed set of rules two machines follow so each one understands the other.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protocol that gives you an ordered, reliable stream of bytes between two programs.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Handshake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short exchange that sets up a connection before any useful data is sent.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Round trip (RTT)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time for a message to reach the other side and its reply to come back.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204368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browser can ask for a page, its connection follows a protocol and usually completes a handshake. RTT measures the wait for one exchange.</a:t>
            </a:r>
            <a:endParaRPr lang="en-US" sz="22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keeping a connection safe</a:t>
            </a:r>
            <a:endParaRPr lang="en-US" sz="4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Sequence number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counter on each byte, so the receiver can reorder and detect what is missing.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Retransmission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Sending data again because it was not acknowledged in time.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layer that encrypts an HTTPS conversation and proves you reached the real site.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Reset (RST)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abrupt "stop, this connection is over" from the other end.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204368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uses sequence numbers and retransmissions to keep data reliable. TLS makes that data private. A reset ends the conversation abruptly.</a:t>
            </a:r>
            <a:endParaRPr lang="en-US" sz="2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TCP: nobody speaks until both sides have agreed to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2881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2959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packets and one round trip before either side may send a single useful byte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9293, Transmission Control Protocol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07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5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TCP gives you, and what it charges</a:t>
            </a:r>
            <a:endParaRPr lang="en-US" sz="3454" dirty="0"/>
          </a:p>
        </p:txBody>
      </p:sp>
      <p:sp>
        <p:nvSpPr>
          <p:cNvPr id="7" name="Text 5"/>
          <p:cNvSpPr/>
          <p:nvPr/>
        </p:nvSpPr>
        <p:spPr>
          <a:xfrm>
            <a:off x="685800" y="1429113"/>
            <a:ext cx="10820400" cy="282044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segments carry sequence numbers, so the receiver reassembles the stream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Retransmission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unacknowledged segment is sent again, with exponential backoff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receiver advertises a window, so a fast sender cannot drown a slow one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Congestion 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sender backs off when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bottleneck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bill: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round trip of setup, per-connection state on both ends, and head-of-line blocking</a:t>
            </a:r>
            <a:endParaRPr lang="en-US" sz="1974" dirty="0"/>
          </a:p>
        </p:txBody>
      </p:sp>
      <p:sp>
        <p:nvSpPr>
          <p:cNvPr id="8" name="Shape 6"/>
          <p:cNvSpPr/>
          <p:nvPr/>
        </p:nvSpPr>
        <p:spPr>
          <a:xfrm>
            <a:off x="685800" y="4359236"/>
            <a:ext cx="10820400" cy="1497122"/>
          </a:xfrm>
          <a:prstGeom prst="roundRect">
            <a:avLst>
              <a:gd name="adj" fmla="val 305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59236"/>
            <a:ext cx="76200" cy="149712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54486"/>
            <a:ext cx="10363200" cy="219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53417"/>
            <a:ext cx="10363200" cy="961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turns an unreliable packet network into a reliable byte stream. Everything on</a:t>
            </a:r>
            <a:endParaRPr lang="en-US" sz="185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list is the price of that sentence.</a:t>
            </a:r>
            <a:endParaRPr lang="en-US" sz="185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Sequencing and retransmission: how silence is handled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3148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lost segment is detected by a gap, not by an error — and the retry interval doubles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Ending a connection: politely, or not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 — the orderly close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packets. Either side may stop sending and keep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close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half-duplex first.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909060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then holds the four-tuple for 2 × MSL.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2537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2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RST — the abort</a:t>
            </a:r>
            <a:endParaRPr lang="en-US" sz="2027" dirty="0"/>
          </a:p>
        </p:txBody>
      </p:sp>
      <p:sp>
        <p:nvSpPr>
          <p:cNvPr id="11" name="Text 9"/>
          <p:cNvSpPr/>
          <p:nvPr/>
        </p:nvSpPr>
        <p:spPr>
          <a:xfrm>
            <a:off x="6286500" y="2039997"/>
            <a:ext cx="5219700" cy="6574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packet. No agreement, unread data discarded.</a:t>
            </a:r>
            <a:endParaRPr lang="en-US" sz="2162" dirty="0"/>
          </a:p>
        </p:txBody>
      </p:sp>
      <p:sp>
        <p:nvSpPr>
          <p:cNvPr id="12" name="Text 10"/>
          <p:cNvSpPr/>
          <p:nvPr/>
        </p:nvSpPr>
        <p:spPr>
          <a:xfrm>
            <a:off x="6286500" y="2817539"/>
            <a:ext cx="5219700" cy="6574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FIN is an agreement. A RST is a decision.</a:t>
            </a:r>
            <a:endParaRPr lang="en-US" sz="2162" dirty="0"/>
          </a:p>
        </p:txBody>
      </p:sp>
      <p:sp>
        <p:nvSpPr>
          <p:cNvPr id="13" name="Shape 11"/>
          <p:cNvSpPr/>
          <p:nvPr/>
        </p:nvSpPr>
        <p:spPr>
          <a:xfrm>
            <a:off x="6286500" y="3595082"/>
            <a:ext cx="5219700" cy="1982652"/>
          </a:xfrm>
          <a:prstGeom prst="roundRect">
            <a:avLst>
              <a:gd name="adj" fmla="val 230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6500" y="3595082"/>
            <a:ext cx="76200" cy="198265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5100" y="3690332"/>
            <a:ext cx="4762500" cy="240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15100" y="4008639"/>
            <a:ext cx="4762500" cy="1403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</a:t>
            </a:r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sockets are normal; exhaustion needs evidence of failed new connections.</a:t>
            </a:r>
            <a:endParaRPr lang="en-US" sz="2032" dirty="0"/>
          </a:p>
        </p:txBody>
      </p:sp>
      <p:sp>
        <p:nvSpPr>
          <p:cNvPr id="17" name="Shape 1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9293 §3.6, closing a connection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8118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2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symptoms: read the failure, not just the code</a:t>
            </a:r>
            <a:endParaRPr lang="en-US" sz="3722" dirty="0"/>
          </a:p>
        </p:txBody>
      </p:sp>
      <p:sp>
        <p:nvSpPr>
          <p:cNvPr id="7" name="Shape 5"/>
          <p:cNvSpPr/>
          <p:nvPr/>
        </p:nvSpPr>
        <p:spPr>
          <a:xfrm>
            <a:off x="685800" y="1896868"/>
            <a:ext cx="10820400" cy="1698989"/>
          </a:xfrm>
          <a:prstGeom prst="roundRect">
            <a:avLst>
              <a:gd name="adj" fmla="val 32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9686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1591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tool, four different layers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346448"/>
            <a:ext cx="10439400" cy="112367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        -&gt; (7) refused: RST, host answered no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192.0.2.1          -&gt; (28) timeout: silence, no 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127.0.0.1:8472     -&gt; (56) reset: request sent, then abort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example.com:443    -&gt; (52) empty reply: orderly FIN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30905"/>
            <a:ext cx="10820400" cy="1849048"/>
          </a:xfrm>
          <a:prstGeom prst="roundRect">
            <a:avLst>
              <a:gd name="adj" fmla="val 247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30905"/>
            <a:ext cx="76200" cy="184904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6155"/>
            <a:ext cx="10363200" cy="236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140857"/>
            <a:ext cx="10363200" cy="13569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plain words: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refused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something answered and said no.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nothing answered at all.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a conversation had started and was cut off.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reply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the connection closed politely without sending an answer.</a:t>
            </a:r>
            <a:endParaRPr lang="en-US" sz="199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transcripts and a decision table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reproduce a local reset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./weeks/week01/samples/abort-server.mjs 8472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loopback-only fixture accepts a connection, reads request bytes, then resets it. Keep A running.</a:t>
            </a:r>
            <a:endParaRPr lang="en-US" sz="225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Reproduce a local reset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A;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.\weeks\week01\samples\abort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reset fixture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find the last completed phase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same machine as Terminal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--max-time 5 http://127.0.0.1:8472/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'exit=%s\n'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"$?"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in A; repeat these two commands to compare.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A runs: connected, request sent, then a receive failure. After stopping A: connection fails earlier.</a:t>
            </a:r>
            <a:endParaRPr lang="en-US" sz="225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locate the last successful phase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same machine as Terminal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8472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$LASTEXITCODE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Now Ctrl+C in Terminal A; repeat both lines to compare.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codes and verbose diagnostics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reset fixture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spinner; a different next action</a:t>
            </a:r>
            <a:endParaRPr lang="en-US" sz="4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evidence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diagnostic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Connected line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connection did not establish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listener, destination, route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Connected, then outgoing 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 accepted the connection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reset/crash/proxy evidence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HTTP status and headers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carried an HTTP response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status, body, and app logs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timeout after connecting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later phase took too long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Locate the stalled phase; do not blame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failure decision table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same offline comparison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./weeks/week01/samples/refused-vs-timeout.txt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A stops the fixture. The archived output explains the phases; Mac error wording may differ.</a:t>
            </a:r>
            <a:endParaRPr lang="en-US" sz="225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 and cleanup: no firewall experiment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archived evidence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.\weeks\week01\samples\refused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-vs-timeout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4347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4347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3872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88162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Terminal A with Ctrl+C. Do not create a DROP rule to force a timeout.</a:t>
            </a:r>
            <a:endParaRPr lang="en-US" sz="225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UDP: no handshake, no memory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sends single messages, called datagrams, with no setup and no memory of what came before. It is not "broken TCP" — it is TCP with every guarantee removed, so the application can choose which ones it actually wants.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5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does not do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2529"/>
            <a:ext cx="5219700" cy="12884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connection, so no setup round trip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ordering, no retransmission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flow or congestion control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8-byte header, versus TCP's 20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that is the right trade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08653"/>
            <a:ext cx="5219700" cy="1316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29 bytes; a retry beats a handshake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you have no address yet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and video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late is worse than lost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rebuilds reliability on top</a:t>
            </a:r>
            <a:endParaRPr lang="en-US" sz="1872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768, User Datagram Protocol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6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QUIC: the handshake, rebuilt on UDP</a:t>
            </a:r>
            <a:endParaRPr lang="en-US" sz="3369" dirty="0"/>
          </a:p>
        </p:txBody>
      </p:sp>
      <p:sp>
        <p:nvSpPr>
          <p:cNvPr id="7" name="Text 5"/>
          <p:cNvSpPr/>
          <p:nvPr/>
        </p:nvSpPr>
        <p:spPr>
          <a:xfrm>
            <a:off x="685800" y="1404945"/>
            <a:ext cx="10820400" cy="23768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over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rebuilds ordering, retransmission, and congestion control above it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Merges the transport and TLS handshakes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RTT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a new server;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RTT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resumed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independent, so one lost packet no longer stalls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connection ID lets a connection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network change, when both ends support it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 is HTTP over QUIC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it is already a large share of real traffic</a:t>
            </a:r>
            <a:endParaRPr lang="en-US" sz="1925" dirty="0"/>
          </a:p>
        </p:txBody>
      </p:sp>
      <p:sp>
        <p:nvSpPr>
          <p:cNvPr id="8" name="Shape 6"/>
          <p:cNvSpPr/>
          <p:nvPr/>
        </p:nvSpPr>
        <p:spPr>
          <a:xfrm>
            <a:off x="685800" y="3888787"/>
            <a:ext cx="10820400" cy="1703965"/>
          </a:xfrm>
          <a:prstGeom prst="roundRect">
            <a:avLst>
              <a:gd name="adj" fmla="val 268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88787"/>
            <a:ext cx="76200" cy="170396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4037"/>
            <a:ext cx="10363200" cy="213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77940"/>
            <a:ext cx="10363200" cy="1222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newer transport that does TCP's job and TLS's job at the same time, carried inside UDP. </a:t>
            </a:r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RTT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round trip; "1 RTT" means one there-and-back before real data flows. </a:t>
            </a:r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simply HTTP delivered over QUIC.</a:t>
            </a:r>
            <a:endParaRPr lang="en-US" sz="181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9000, QUIC transport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9114, HTTP/3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spine of this course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URL to pixel</a:t>
            </a:r>
            <a:endParaRPr lang="en-US" sz="4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chain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1955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012114"/>
            <a:ext cx="10820400" cy="1398086"/>
          </a:xfrm>
          <a:prstGeom prst="roundRect">
            <a:avLst>
              <a:gd name="adj" fmla="val 32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012114"/>
            <a:ext cx="76200" cy="1398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073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450264"/>
            <a:ext cx="10363200" cy="8917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of these names are new: an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edge/CDN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server placed near the user that can answer with a stored copy; the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machine that actually owns the content;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browser turning HTML and CSS into pixels on screen.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Twelve links. Every remaining week of this course attaches to one of them.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2999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first six links, timed</a:t>
            </a:r>
            <a:endParaRPr lang="en-US" sz="3389" dirty="0"/>
          </a:p>
        </p:txBody>
      </p:sp>
      <p:sp>
        <p:nvSpPr>
          <p:cNvPr id="7" name="Shape 5"/>
          <p:cNvSpPr/>
          <p:nvPr/>
        </p:nvSpPr>
        <p:spPr>
          <a:xfrm>
            <a:off x="685800" y="1336623"/>
            <a:ext cx="10820400" cy="2953172"/>
          </a:xfrm>
          <a:prstGeom prst="roundRect">
            <a:avLst>
              <a:gd name="adj" fmla="val 185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3662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5567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Archived Windows curl run - cumulative seconds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86203"/>
            <a:ext cx="10439400" cy="237786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NUL -w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"dns=%{time_namelookup} tcp=%{time_connect}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tls=%{time_appconnect} ttfb=%{time_starttransfer}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total=%{time_total}\n" https://www.depaul.edu/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dns=0.010978  tcp=0.013690  tls=0.246471  ttfb=0.622437  total=0.647152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3   DNS              11 ms    cached; a cold lookup is 20-120 ms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4   TCP handshake   + 3 ms    one round trip, close by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5   TLS handshake + 233 ms    the most expensive thing here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links 6-8  request, edge, origin, first byte      + 376 ms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the remaining 238 KB of body                      +  25 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2760"/>
            <a:ext cx="10820400" cy="1179274"/>
          </a:xfrm>
          <a:prstGeom prst="roundRect">
            <a:avLst>
              <a:gd name="adj" fmla="val 387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2760"/>
            <a:ext cx="76200" cy="117927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08010"/>
            <a:ext cx="10363200" cy="215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03080"/>
            <a:ext cx="10363200" cy="6971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numbers localise a slow page to a link — no profiler, no dashboard, and it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anywhere 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runs.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 manual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--write-out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variables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measure those same phases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'dns=%{time_namelookup} tcp=%{time_connect}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'tls=%{time_appconnect} ttfb=%{time_starttransfer}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'total=%{time_total}\n'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NUL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https://www.depaul.edu/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cumulative seconds, not five independent durations. Your values need not match the archived capture.</a:t>
            </a:r>
            <a:endParaRPr lang="en-US" sz="225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measure those same phases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'dns=%{time_namelookup} tcp=%{time_connect}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${fmt}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tls=%{time_appconnect} ttfb=%{time_starttransfer} 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${fmt}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total=%{time_total}\n"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/dev/null --max-time 15 -w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https://www.depaul.edu/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fields and interpretation; /dev/null replaces Windows NUL. Keep the format variable quoted.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write-out variables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filters, four links, four artifacts</a:t>
            </a:r>
            <a:endParaRPr lang="en-US" sz="4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Wireshark display filter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should find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query, one response, 2 answers, a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· TCP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tcp.flags.syn == 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exactly two packets: SYN, then SYN+ACK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· 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tls.handshake.type == 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hostname, in cleartext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· HTTP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http.request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Host: header — and nothing over HTTPS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display filter reference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fully worked annotated capture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link failed. Everything looked down.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October 2021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routine backbone maintenance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was issued to 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</a:t>
            </a:r>
            <a:pPr algn="l" indent="0" marL="0">
              <a:lnSpc>
                <a:spcPct val="136000"/>
              </a:lnSpc>
              <a:buNone/>
            </a:pP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494532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audit tool had a bug.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042410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Facebook data centre fell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 the internet.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86500" y="1683258"/>
            <a:ext cx="5219700" cy="3105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actually broke for users</a:t>
            </a:r>
            <a:endParaRPr lang="en-US" sz="2220" dirty="0"/>
          </a:p>
        </p:txBody>
      </p:sp>
      <p:sp>
        <p:nvSpPr>
          <p:cNvPr id="12" name="Text 10"/>
          <p:cNvSpPr/>
          <p:nvPr/>
        </p:nvSpPr>
        <p:spPr>
          <a:xfrm>
            <a:off x="6286500" y="2106603"/>
            <a:ext cx="5219700" cy="1206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DNS servers were healthy, but</a:t>
            </a:r>
            <a:endParaRPr lang="en-US" sz="2368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health check could not reach</a:t>
            </a:r>
            <a:endParaRPr lang="en-US" sz="2368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centres.</a:t>
            </a:r>
            <a:endParaRPr lang="en-US" sz="2368" dirty="0"/>
          </a:p>
        </p:txBody>
      </p:sp>
      <p:sp>
        <p:nvSpPr>
          <p:cNvPr id="13" name="Text 11"/>
          <p:cNvSpPr/>
          <p:nvPr/>
        </p:nvSpPr>
        <p:spPr>
          <a:xfrm>
            <a:off x="6286500" y="3444931"/>
            <a:ext cx="5219700" cy="402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withdrew their BGP routes.</a:t>
            </a:r>
            <a:endParaRPr lang="en-US" sz="2368" dirty="0"/>
          </a:p>
        </p:txBody>
      </p:sp>
      <p:sp>
        <p:nvSpPr>
          <p:cNvPr id="14" name="Shape 12"/>
          <p:cNvSpPr/>
          <p:nvPr/>
        </p:nvSpPr>
        <p:spPr>
          <a:xfrm>
            <a:off x="6286500" y="3978762"/>
            <a:ext cx="5219700" cy="1585856"/>
          </a:xfrm>
          <a:prstGeom prst="roundRect">
            <a:avLst>
              <a:gd name="adj" fmla="val 2883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3978762"/>
            <a:ext cx="76200" cy="1585856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4074012"/>
            <a:ext cx="4762500" cy="263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15100" y="4413632"/>
            <a:ext cx="4762500" cy="768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3 failed; every other link became unreachable.</a:t>
            </a:r>
            <a:endParaRPr lang="en-US" sz="2226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Engineering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details about the October 4 outage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(primary postmortem)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764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3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Links 9 to 12: the bytes arrived, and nothing is on screen yet</a:t>
            </a:r>
            <a:endParaRPr lang="en-US" sz="3430" dirty="0"/>
          </a:p>
        </p:txBody>
      </p:sp>
      <p:sp>
        <p:nvSpPr>
          <p:cNvPr id="7" name="Text 5"/>
          <p:cNvSpPr/>
          <p:nvPr/>
        </p:nvSpPr>
        <p:spPr>
          <a:xfrm>
            <a:off x="685800" y="1784238"/>
            <a:ext cx="10820400" cy="231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HTML becomes a DOM; a blocking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stops the parser dead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JavaScript runs, and with client-side rendering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visible until it finishes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style, layout, paint, composite; this is where a11y and Core Web Vitals live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page looks ready but the handlers are not attached yet, so clicks are dropped</a:t>
            </a:r>
            <a:endParaRPr lang="en-US" sz="1960" dirty="0"/>
          </a:p>
        </p:txBody>
      </p:sp>
      <p:sp>
        <p:nvSpPr>
          <p:cNvPr id="8" name="Shape 6"/>
          <p:cNvSpPr/>
          <p:nvPr/>
        </p:nvSpPr>
        <p:spPr>
          <a:xfrm>
            <a:off x="685800" y="4206779"/>
            <a:ext cx="10820400" cy="1383767"/>
          </a:xfrm>
          <a:prstGeom prst="roundRect">
            <a:avLst>
              <a:gd name="adj" fmla="val 330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06779"/>
            <a:ext cx="76200" cy="1383767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02029"/>
            <a:ext cx="10363200" cy="217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599517"/>
            <a:ext cx="10363200" cy="9004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4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"Fast" is not one number. A page can reach first paint in 400 ms and be unusable</a:t>
            </a:r>
            <a:endParaRPr lang="en-US" sz="184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4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three seconds. Users report the second one.</a:t>
            </a:r>
            <a:endParaRPr lang="en-US" sz="1842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Navigation and resource timings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users, four reports. Which link broke, and what evidence settles it?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"Server not found." Their colleague at the next desk loads it fine.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Padlock warning on a phone; fine on both laptops in the room.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loads instantly but shows yesterday's incident list.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paints in 300 ms; buttons do nothing for four seconds.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URL chain and which week owns each link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355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4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Guided lab: capture your own traffic, then break your own port</a:t>
            </a:r>
            <a:endParaRPr lang="en-US" sz="3746" dirty="0"/>
          </a:p>
        </p:txBody>
      </p:sp>
      <p:sp>
        <p:nvSpPr>
          <p:cNvPr id="7" name="Text 5"/>
          <p:cNvSpPr/>
          <p:nvPr/>
        </p:nvSpPr>
        <p:spPr>
          <a:xfrm>
            <a:off x="685800" y="1951931"/>
            <a:ext cx="10820400" cy="2787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Now, 35 minutes: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find your machine's network settings, then capture a real page load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capture: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point at the DNS query, the TCP handshake, the TLS ClientHello, and the first HTTP request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break it on 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 your own listening port and diagnose refused vs. timed out vs. reset from symptoms alone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a screenshot: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step has a saved fallback capture for a restricted machine or VPN</a:t>
            </a:r>
            <a:endParaRPr lang="en-US" sz="2141" dirty="0"/>
          </a:p>
        </p:txBody>
      </p:sp>
      <p:sp>
        <p:nvSpPr>
          <p:cNvPr id="8" name="Shape 6"/>
          <p:cNvSpPr/>
          <p:nvPr/>
        </p:nvSpPr>
        <p:spPr>
          <a:xfrm>
            <a:off x="685800" y="4858527"/>
            <a:ext cx="10820400" cy="987242"/>
          </a:xfrm>
          <a:prstGeom prst="roundRect">
            <a:avLst>
              <a:gd name="adj" fmla="val 463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858527"/>
            <a:ext cx="76200" cy="98724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53777"/>
            <a:ext cx="10363200" cy="237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269915"/>
            <a:ext cx="10363200" cy="3475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instructions and fallbacks: </a:t>
            </a:r>
            <a:pPr algn="l" indent="0" marL="0">
              <a:lnSpc>
                <a:spcPct val="136000"/>
              </a:lnSpc>
              <a:buNone/>
            </a:pPr>
            <a:r>
              <a:rPr lang="en-US" sz="2012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lab.md</a:t>
            </a:r>
            <a:pPr algn="l" indent="0" marL="0">
              <a:lnSpc>
                <a:spcPct val="136000"/>
              </a:lnSpc>
              <a:buNone/>
            </a:pPr>
            <a:r>
              <a:rPr lang="en-US" sz="20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1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09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HW1: the Packet-to-Pixel Evidence Dossier</a:t>
            </a:r>
            <a:endParaRPr lang="en-US" sz="3276" dirty="0"/>
          </a:p>
        </p:txBody>
      </p:sp>
      <p:sp>
        <p:nvSpPr>
          <p:cNvPr id="7" name="Text 5"/>
          <p:cNvSpPr/>
          <p:nvPr/>
        </p:nvSpPr>
        <p:spPr>
          <a:xfrm>
            <a:off x="685800" y="1374485"/>
            <a:ext cx="10820400" cy="30393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prove you can watch one page load happen and read the evidence, not guess at it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network config, an annotated packet capture, a HAR export, and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-v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trace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socket/port map, a hand-drawn sequence diagram, two diagnosed failures, and proof of domain purchase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9, the non-generatable one: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reject one AI claim about your own evidence, and show what disproves it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your domain this week.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Registrar verification and propagation are a third party's clock, not yours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 · individual · full handout and rubric: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homework.md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at the start of Week 2 class</a:t>
            </a:r>
            <a:endParaRPr lang="en-US" sz="1872" dirty="0"/>
          </a:p>
        </p:txBody>
      </p:sp>
      <p:sp>
        <p:nvSpPr>
          <p:cNvPr id="8" name="Shape 6"/>
          <p:cNvSpPr/>
          <p:nvPr/>
        </p:nvSpPr>
        <p:spPr>
          <a:xfrm>
            <a:off x="685800" y="4517861"/>
            <a:ext cx="10820400" cy="1078267"/>
          </a:xfrm>
          <a:prstGeom prst="roundRect">
            <a:avLst>
              <a:gd name="adj" fmla="val 424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17861"/>
            <a:ext cx="76200" cy="1078267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3111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901528"/>
            <a:ext cx="10363200" cy="5994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domain hardship path is private, needs no explanation, and carries no grade difference. Ask, and it is done.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HW1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005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sentence — what surprised you about today's journey, or where it still feels fuzzy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to Week 2: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purchased domain and registrar login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Week 2 class: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complete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2 prep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five items, about 44 minutes, plus its readiness check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logistics question we didn't reach: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discussion board, not a hallway guess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week: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name you just bought becomes an address — resolution, in depth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and the URL chain — Week 1 Block C</dc:title>
  <dc:subject>TCP, UDP, and QUIC — then every link between pressing Enter and seeing a pixel, which is the map the rest of this course is drawn on</dc:subject>
  <dc:creator>Course staff</dc:creator>
  <cp:lastModifiedBy>Course staff</cp:lastModifiedBy>
  <cp:revision>1</cp:revision>
  <dcterms:created xsi:type="dcterms:W3CDTF">2026-09-10T21:24:04Z</dcterms:created>
  <dcterms:modified xsi:type="dcterms:W3CDTF">2026-09-10T21:24:04Z</dcterms:modified>
</cp:coreProperties>
</file>